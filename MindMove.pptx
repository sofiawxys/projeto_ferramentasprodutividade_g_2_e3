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5" r:id="rId10"/>
    <p:sldId id="266" r:id="rId11"/>
    <p:sldId id="263" r:id="rId12"/>
  </p:sldIdLst>
  <p:sldSz cx="18288000" cy="10287000"/>
  <p:notesSz cx="6858000" cy="9144000"/>
  <p:embeddedFontLst>
    <p:embeddedFont>
      <p:font typeface="Calibri (MS)" panose="020B0604020202020204" charset="0"/>
      <p:regular r:id="rId13"/>
    </p:embeddedFont>
    <p:embeddedFont>
      <p:font typeface="Calibri (MS) Bold" panose="020B0604020202020204" charset="0"/>
      <p:regular r:id="rId14"/>
    </p:embeddedFont>
    <p:embeddedFont>
      <p:font typeface="Stinger Fit" panose="020B0604020202020204" charset="0"/>
      <p:regular r:id="rId1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7A73963-C97B-4C0D-B22B-7BE09293C9AC}" v="8" dt="2026-04-30T12:41:29.2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54" d="100"/>
          <a:sy n="54" d="100"/>
        </p:scale>
        <p:origin x="504" y="31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abriela Carneiro" userId="038eca41cd8564ab" providerId="LiveId" clId="{D03F746D-BE5D-4789-93E6-42C6E52F57A2}"/>
    <pc:docChg chg="undo custSel addSld delSld modSld">
      <pc:chgData name="Gabriela Carneiro" userId="038eca41cd8564ab" providerId="LiveId" clId="{D03F746D-BE5D-4789-93E6-42C6E52F57A2}" dt="2026-04-30T12:42:29.254" v="160" actId="1076"/>
      <pc:docMkLst>
        <pc:docMk/>
      </pc:docMkLst>
      <pc:sldChg chg="new del">
        <pc:chgData name="Gabriela Carneiro" userId="038eca41cd8564ab" providerId="LiveId" clId="{D03F746D-BE5D-4789-93E6-42C6E52F57A2}" dt="2026-04-30T12:29:22.640" v="1" actId="2696"/>
        <pc:sldMkLst>
          <pc:docMk/>
          <pc:sldMk cId="566240445" sldId="264"/>
        </pc:sldMkLst>
      </pc:sldChg>
      <pc:sldChg chg="modSp add mod">
        <pc:chgData name="Gabriela Carneiro" userId="038eca41cd8564ab" providerId="LiveId" clId="{D03F746D-BE5D-4789-93E6-42C6E52F57A2}" dt="2026-04-30T12:35:22.742" v="42" actId="20577"/>
        <pc:sldMkLst>
          <pc:docMk/>
          <pc:sldMk cId="4017652531" sldId="264"/>
        </pc:sldMkLst>
        <pc:spChg chg="mod">
          <ac:chgData name="Gabriela Carneiro" userId="038eca41cd8564ab" providerId="LiveId" clId="{D03F746D-BE5D-4789-93E6-42C6E52F57A2}" dt="2026-04-30T12:35:11.131" v="39" actId="1076"/>
          <ac:spMkLst>
            <pc:docMk/>
            <pc:sldMk cId="4017652531" sldId="264"/>
            <ac:spMk id="14" creationId="{10C22223-EA7A-3163-0E0C-91EC47938E2C}"/>
          </ac:spMkLst>
        </pc:spChg>
        <pc:spChg chg="mod">
          <ac:chgData name="Gabriela Carneiro" userId="038eca41cd8564ab" providerId="LiveId" clId="{D03F746D-BE5D-4789-93E6-42C6E52F57A2}" dt="2026-04-30T12:35:22.742" v="42" actId="20577"/>
          <ac:spMkLst>
            <pc:docMk/>
            <pc:sldMk cId="4017652531" sldId="264"/>
            <ac:spMk id="15" creationId="{3B4645BA-21B6-4F44-BBAF-6DC984CB2EE7}"/>
          </ac:spMkLst>
        </pc:spChg>
        <pc:grpChg chg="mod">
          <ac:chgData name="Gabriela Carneiro" userId="038eca41cd8564ab" providerId="LiveId" clId="{D03F746D-BE5D-4789-93E6-42C6E52F57A2}" dt="2026-04-30T12:35:06.350" v="38" actId="1076"/>
          <ac:grpSpMkLst>
            <pc:docMk/>
            <pc:sldMk cId="4017652531" sldId="264"/>
            <ac:grpSpMk id="11" creationId="{1517E098-A16C-236F-38B2-E8EDA910CFEE}"/>
          </ac:grpSpMkLst>
        </pc:grpChg>
      </pc:sldChg>
      <pc:sldChg chg="modSp add mod">
        <pc:chgData name="Gabriela Carneiro" userId="038eca41cd8564ab" providerId="LiveId" clId="{D03F746D-BE5D-4789-93E6-42C6E52F57A2}" dt="2026-04-30T12:37:23.004" v="72" actId="20577"/>
        <pc:sldMkLst>
          <pc:docMk/>
          <pc:sldMk cId="197940328" sldId="265"/>
        </pc:sldMkLst>
        <pc:spChg chg="mod">
          <ac:chgData name="Gabriela Carneiro" userId="038eca41cd8564ab" providerId="LiveId" clId="{D03F746D-BE5D-4789-93E6-42C6E52F57A2}" dt="2026-04-30T12:37:23.004" v="72" actId="20577"/>
          <ac:spMkLst>
            <pc:docMk/>
            <pc:sldMk cId="197940328" sldId="265"/>
            <ac:spMk id="14" creationId="{6A4CE654-EDDB-8824-C9C5-E50047542B8F}"/>
          </ac:spMkLst>
        </pc:spChg>
        <pc:grpChg chg="mod">
          <ac:chgData name="Gabriela Carneiro" userId="038eca41cd8564ab" providerId="LiveId" clId="{D03F746D-BE5D-4789-93E6-42C6E52F57A2}" dt="2026-04-30T12:37:08.308" v="45" actId="1076"/>
          <ac:grpSpMkLst>
            <pc:docMk/>
            <pc:sldMk cId="197940328" sldId="265"/>
            <ac:grpSpMk id="11" creationId="{EFEB5578-3F3A-A610-E906-508F054604BE}"/>
          </ac:grpSpMkLst>
        </pc:grpChg>
      </pc:sldChg>
      <pc:sldChg chg="modSp add mod">
        <pc:chgData name="Gabriela Carneiro" userId="038eca41cd8564ab" providerId="LiveId" clId="{D03F746D-BE5D-4789-93E6-42C6E52F57A2}" dt="2026-04-30T12:42:29.254" v="160" actId="1076"/>
        <pc:sldMkLst>
          <pc:docMk/>
          <pc:sldMk cId="4099099592" sldId="266"/>
        </pc:sldMkLst>
        <pc:spChg chg="mod">
          <ac:chgData name="Gabriela Carneiro" userId="038eca41cd8564ab" providerId="LiveId" clId="{D03F746D-BE5D-4789-93E6-42C6E52F57A2}" dt="2026-04-30T12:42:29.254" v="160" actId="1076"/>
          <ac:spMkLst>
            <pc:docMk/>
            <pc:sldMk cId="4099099592" sldId="266"/>
            <ac:spMk id="14" creationId="{E7135E30-811A-A86B-899B-705C18AD03B8}"/>
          </ac:spMkLst>
        </pc:spChg>
        <pc:spChg chg="mod">
          <ac:chgData name="Gabriela Carneiro" userId="038eca41cd8564ab" providerId="LiveId" clId="{D03F746D-BE5D-4789-93E6-42C6E52F57A2}" dt="2026-04-30T12:42:11.454" v="157" actId="1076"/>
          <ac:spMkLst>
            <pc:docMk/>
            <pc:sldMk cId="4099099592" sldId="266"/>
            <ac:spMk id="15" creationId="{B691930A-ABD0-0806-5F73-DD80B3B9A2C6}"/>
          </ac:spMkLst>
        </pc:spChg>
        <pc:grpChg chg="mod">
          <ac:chgData name="Gabriela Carneiro" userId="038eca41cd8564ab" providerId="LiveId" clId="{D03F746D-BE5D-4789-93E6-42C6E52F57A2}" dt="2026-04-30T12:42:00.377" v="154" actId="1076"/>
          <ac:grpSpMkLst>
            <pc:docMk/>
            <pc:sldMk cId="4099099592" sldId="266"/>
            <ac:grpSpMk id="8" creationId="{1CB5BD7D-AB3B-B4CD-0DDB-41B18532E234}"/>
          </ac:grpSpMkLst>
        </pc:grpChg>
        <pc:grpChg chg="mod">
          <ac:chgData name="Gabriela Carneiro" userId="038eca41cd8564ab" providerId="LiveId" clId="{D03F746D-BE5D-4789-93E6-42C6E52F57A2}" dt="2026-04-30T12:42:15.832" v="159" actId="1076"/>
          <ac:grpSpMkLst>
            <pc:docMk/>
            <pc:sldMk cId="4099099592" sldId="266"/>
            <ac:grpSpMk id="11" creationId="{F0A6F672-8711-E631-2051-BAA16BB1E997}"/>
          </ac:grpSpMkLst>
        </pc:gr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 flipV="1">
            <a:off x="15721081" y="-2654213"/>
            <a:ext cx="6942365" cy="8264720"/>
          </a:xfrm>
          <a:custGeom>
            <a:avLst/>
            <a:gdLst/>
            <a:ahLst/>
            <a:cxnLst/>
            <a:rect l="l" t="t" r="r" b="b"/>
            <a:pathLst>
              <a:path w="6942365" h="8264720">
                <a:moveTo>
                  <a:pt x="6942365" y="8264720"/>
                </a:moveTo>
                <a:lnTo>
                  <a:pt x="0" y="8264720"/>
                </a:lnTo>
                <a:lnTo>
                  <a:pt x="0" y="0"/>
                </a:lnTo>
                <a:lnTo>
                  <a:pt x="6942365" y="0"/>
                </a:lnTo>
                <a:lnTo>
                  <a:pt x="6942365" y="826472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3" name="Freeform 3"/>
          <p:cNvSpPr/>
          <p:nvPr/>
        </p:nvSpPr>
        <p:spPr>
          <a:xfrm>
            <a:off x="15721081" y="-6008814"/>
            <a:ext cx="7783270" cy="7783270"/>
          </a:xfrm>
          <a:custGeom>
            <a:avLst/>
            <a:gdLst/>
            <a:ahLst/>
            <a:cxnLst/>
            <a:rect l="l" t="t" r="r" b="b"/>
            <a:pathLst>
              <a:path w="7783270" h="7783270">
                <a:moveTo>
                  <a:pt x="0" y="0"/>
                </a:moveTo>
                <a:lnTo>
                  <a:pt x="7783270" y="0"/>
                </a:lnTo>
                <a:lnTo>
                  <a:pt x="7783270" y="7783271"/>
                </a:lnTo>
                <a:lnTo>
                  <a:pt x="0" y="778327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4" name="Freeform 4"/>
          <p:cNvSpPr/>
          <p:nvPr/>
        </p:nvSpPr>
        <p:spPr>
          <a:xfrm rot="-10800000" flipH="1" flipV="1">
            <a:off x="-5913665" y="993580"/>
            <a:ext cx="6942365" cy="8264720"/>
          </a:xfrm>
          <a:custGeom>
            <a:avLst/>
            <a:gdLst/>
            <a:ahLst/>
            <a:cxnLst/>
            <a:rect l="l" t="t" r="r" b="b"/>
            <a:pathLst>
              <a:path w="6942365" h="8264720">
                <a:moveTo>
                  <a:pt x="6942365" y="8264720"/>
                </a:moveTo>
                <a:lnTo>
                  <a:pt x="0" y="8264720"/>
                </a:lnTo>
                <a:lnTo>
                  <a:pt x="0" y="0"/>
                </a:lnTo>
                <a:lnTo>
                  <a:pt x="6942365" y="0"/>
                </a:lnTo>
                <a:lnTo>
                  <a:pt x="6942365" y="826472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5" name="Freeform 5"/>
          <p:cNvSpPr/>
          <p:nvPr/>
        </p:nvSpPr>
        <p:spPr>
          <a:xfrm rot="-10800000">
            <a:off x="-7029269" y="4450841"/>
            <a:ext cx="7783270" cy="7783270"/>
          </a:xfrm>
          <a:custGeom>
            <a:avLst/>
            <a:gdLst/>
            <a:ahLst/>
            <a:cxnLst/>
            <a:rect l="l" t="t" r="r" b="b"/>
            <a:pathLst>
              <a:path w="7783270" h="7783270">
                <a:moveTo>
                  <a:pt x="0" y="0"/>
                </a:moveTo>
                <a:lnTo>
                  <a:pt x="7783270" y="0"/>
                </a:lnTo>
                <a:lnTo>
                  <a:pt x="7783270" y="7783270"/>
                </a:lnTo>
                <a:lnTo>
                  <a:pt x="0" y="778327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6" name="Freeform 6"/>
          <p:cNvSpPr/>
          <p:nvPr/>
        </p:nvSpPr>
        <p:spPr>
          <a:xfrm rot="-10800000">
            <a:off x="16869401" y="7341837"/>
            <a:ext cx="4645726" cy="4645726"/>
          </a:xfrm>
          <a:custGeom>
            <a:avLst/>
            <a:gdLst/>
            <a:ahLst/>
            <a:cxnLst/>
            <a:rect l="l" t="t" r="r" b="b"/>
            <a:pathLst>
              <a:path w="4645726" h="4645726">
                <a:moveTo>
                  <a:pt x="0" y="0"/>
                </a:moveTo>
                <a:lnTo>
                  <a:pt x="4645726" y="0"/>
                </a:lnTo>
                <a:lnTo>
                  <a:pt x="4645726" y="4645726"/>
                </a:lnTo>
                <a:lnTo>
                  <a:pt x="0" y="464572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7" name="Freeform 7"/>
          <p:cNvSpPr/>
          <p:nvPr/>
        </p:nvSpPr>
        <p:spPr>
          <a:xfrm rot="-10800000">
            <a:off x="-2281014" y="-2716014"/>
            <a:ext cx="4645726" cy="4645726"/>
          </a:xfrm>
          <a:custGeom>
            <a:avLst/>
            <a:gdLst/>
            <a:ahLst/>
            <a:cxnLst/>
            <a:rect l="l" t="t" r="r" b="b"/>
            <a:pathLst>
              <a:path w="4645726" h="4645726">
                <a:moveTo>
                  <a:pt x="0" y="0"/>
                </a:moveTo>
                <a:lnTo>
                  <a:pt x="4645726" y="0"/>
                </a:lnTo>
                <a:lnTo>
                  <a:pt x="4645726" y="4645726"/>
                </a:lnTo>
                <a:lnTo>
                  <a:pt x="0" y="464572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8" name="Freeform 8"/>
          <p:cNvSpPr/>
          <p:nvPr/>
        </p:nvSpPr>
        <p:spPr>
          <a:xfrm>
            <a:off x="754001" y="599379"/>
            <a:ext cx="4398861" cy="1757536"/>
          </a:xfrm>
          <a:custGeom>
            <a:avLst/>
            <a:gdLst/>
            <a:ahLst/>
            <a:cxnLst/>
            <a:rect l="l" t="t" r="r" b="b"/>
            <a:pathLst>
              <a:path w="4398861" h="1757536">
                <a:moveTo>
                  <a:pt x="0" y="0"/>
                </a:moveTo>
                <a:lnTo>
                  <a:pt x="4398861" y="0"/>
                </a:lnTo>
                <a:lnTo>
                  <a:pt x="4398861" y="1757536"/>
                </a:lnTo>
                <a:lnTo>
                  <a:pt x="0" y="175753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9" name="TextBox 9"/>
          <p:cNvSpPr txBox="1"/>
          <p:nvPr/>
        </p:nvSpPr>
        <p:spPr>
          <a:xfrm>
            <a:off x="1028700" y="2949870"/>
            <a:ext cx="16230600" cy="34747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8640"/>
              </a:lnSpc>
            </a:pPr>
            <a:r>
              <a:rPr lang="en-US" sz="8000" b="1">
                <a:solidFill>
                  <a:srgbClr val="2B7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Eficácia da Intervenção Digital MindMove na Saúde Mental de Universitários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12621578" y="599379"/>
            <a:ext cx="4769990" cy="1120118"/>
            <a:chOff x="0" y="0"/>
            <a:chExt cx="1256294" cy="295011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256294" cy="295011"/>
            </a:xfrm>
            <a:custGeom>
              <a:avLst/>
              <a:gdLst/>
              <a:ahLst/>
              <a:cxnLst/>
              <a:rect l="l" t="t" r="r" b="b"/>
              <a:pathLst>
                <a:path w="1256294" h="295011">
                  <a:moveTo>
                    <a:pt x="0" y="0"/>
                  </a:moveTo>
                  <a:lnTo>
                    <a:pt x="1256294" y="0"/>
                  </a:lnTo>
                  <a:lnTo>
                    <a:pt x="1256294" y="295011"/>
                  </a:lnTo>
                  <a:lnTo>
                    <a:pt x="0" y="295011"/>
                  </a:lnTo>
                  <a:close/>
                </a:path>
              </a:pathLst>
            </a:custGeom>
            <a:solidFill>
              <a:srgbClr val="FFFFFE"/>
            </a:solidFill>
          </p:spPr>
          <p:txBody>
            <a:bodyPr/>
            <a:lstStyle/>
            <a:p>
              <a:endParaRPr lang="pt-PT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1256294" cy="34263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3281427" y="6414510"/>
            <a:ext cx="11725146" cy="6731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900"/>
              </a:lnSpc>
            </a:pPr>
            <a:r>
              <a:rPr lang="en-US" sz="35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MindMove: Ensaio Clínico em Saúde Mental Digital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28700" y="8756650"/>
            <a:ext cx="7053201" cy="908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499"/>
              </a:lnSpc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Trabalho realizado por: Ana Sofia Moreira, Flávio Vieira, Gabriela Carneiro e Maria Leonor Fernandes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851510" y="876863"/>
            <a:ext cx="7188394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3499"/>
              </a:lnSpc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Unidade Curricular de Ferramentas da Produtividade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12621578" y="8544582"/>
            <a:ext cx="4769990" cy="1120118"/>
            <a:chOff x="0" y="0"/>
            <a:chExt cx="1256294" cy="295011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256294" cy="295011"/>
            </a:xfrm>
            <a:custGeom>
              <a:avLst/>
              <a:gdLst/>
              <a:ahLst/>
              <a:cxnLst/>
              <a:rect l="l" t="t" r="r" b="b"/>
              <a:pathLst>
                <a:path w="1256294" h="295011">
                  <a:moveTo>
                    <a:pt x="0" y="0"/>
                  </a:moveTo>
                  <a:lnTo>
                    <a:pt x="1256294" y="0"/>
                  </a:lnTo>
                  <a:lnTo>
                    <a:pt x="1256294" y="295011"/>
                  </a:lnTo>
                  <a:lnTo>
                    <a:pt x="0" y="295011"/>
                  </a:lnTo>
                  <a:close/>
                </a:path>
              </a:pathLst>
            </a:custGeom>
            <a:solidFill>
              <a:srgbClr val="FFFFFE"/>
            </a:solidFill>
          </p:spPr>
          <p:txBody>
            <a:bodyPr/>
            <a:lstStyle/>
            <a:p>
              <a:endParaRPr lang="pt-PT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1256294" cy="34263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14761400" y="8756650"/>
            <a:ext cx="7053201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499"/>
              </a:lnSpc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2 de maio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-1434465" y="7936076"/>
            <a:ext cx="8279532" cy="9266871"/>
            <a:chOff x="0" y="0"/>
            <a:chExt cx="11039376" cy="12355828"/>
          </a:xfrm>
        </p:grpSpPr>
        <p:sp>
          <p:nvSpPr>
            <p:cNvPr id="3" name="Freeform 3"/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4" name="Freeform 4"/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1246542" y="-6136759"/>
            <a:ext cx="8279532" cy="9266871"/>
            <a:chOff x="0" y="0"/>
            <a:chExt cx="11039376" cy="12355828"/>
          </a:xfrm>
        </p:grpSpPr>
        <p:sp>
          <p:nvSpPr>
            <p:cNvPr id="6" name="Freeform 6"/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pt-PT"/>
            </a:p>
          </p:txBody>
        </p:sp>
        <p:sp>
          <p:nvSpPr>
            <p:cNvPr id="7" name="Freeform 7"/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273638" y="693030"/>
            <a:ext cx="15740723" cy="8900940"/>
            <a:chOff x="0" y="0"/>
            <a:chExt cx="4145705" cy="234428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145705" cy="2344280"/>
            </a:xfrm>
            <a:custGeom>
              <a:avLst/>
              <a:gdLst/>
              <a:ahLst/>
              <a:cxnLst/>
              <a:rect l="l" t="t" r="r" b="b"/>
              <a:pathLst>
                <a:path w="4145705" h="2344280">
                  <a:moveTo>
                    <a:pt x="49184" y="0"/>
                  </a:moveTo>
                  <a:lnTo>
                    <a:pt x="4096521" y="0"/>
                  </a:lnTo>
                  <a:cubicBezTo>
                    <a:pt x="4109565" y="0"/>
                    <a:pt x="4122076" y="5182"/>
                    <a:pt x="4131299" y="14406"/>
                  </a:cubicBezTo>
                  <a:cubicBezTo>
                    <a:pt x="4140523" y="23629"/>
                    <a:pt x="4145705" y="36140"/>
                    <a:pt x="4145705" y="49184"/>
                  </a:cubicBezTo>
                  <a:lnTo>
                    <a:pt x="4145705" y="2295096"/>
                  </a:lnTo>
                  <a:cubicBezTo>
                    <a:pt x="4145705" y="2308141"/>
                    <a:pt x="4140523" y="2320651"/>
                    <a:pt x="4131299" y="2329875"/>
                  </a:cubicBezTo>
                  <a:cubicBezTo>
                    <a:pt x="4122076" y="2339099"/>
                    <a:pt x="4109565" y="2344280"/>
                    <a:pt x="4096521" y="2344280"/>
                  </a:cubicBezTo>
                  <a:lnTo>
                    <a:pt x="49184" y="2344280"/>
                  </a:lnTo>
                  <a:cubicBezTo>
                    <a:pt x="22020" y="2344280"/>
                    <a:pt x="0" y="2322260"/>
                    <a:pt x="0" y="2295096"/>
                  </a:cubicBezTo>
                  <a:lnTo>
                    <a:pt x="0" y="49184"/>
                  </a:lnTo>
                  <a:cubicBezTo>
                    <a:pt x="0" y="36140"/>
                    <a:pt x="5182" y="23629"/>
                    <a:pt x="14406" y="14406"/>
                  </a:cubicBezTo>
                  <a:cubicBezTo>
                    <a:pt x="23629" y="5182"/>
                    <a:pt x="36140" y="0"/>
                    <a:pt x="49184" y="0"/>
                  </a:cubicBezTo>
                  <a:close/>
                </a:path>
              </a:pathLst>
            </a:custGeom>
            <a:solidFill>
              <a:srgbClr val="BFDBF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4145705" cy="239190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518577" y="1028700"/>
            <a:ext cx="15250847" cy="8229600"/>
            <a:chOff x="0" y="0"/>
            <a:chExt cx="4016684" cy="2167467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4016684" cy="2167467"/>
            </a:xfrm>
            <a:custGeom>
              <a:avLst/>
              <a:gdLst/>
              <a:ahLst/>
              <a:cxnLst/>
              <a:rect l="l" t="t" r="r" b="b"/>
              <a:pathLst>
                <a:path w="4016684" h="2167467">
                  <a:moveTo>
                    <a:pt x="50764" y="0"/>
                  </a:moveTo>
                  <a:lnTo>
                    <a:pt x="3965920" y="0"/>
                  </a:lnTo>
                  <a:cubicBezTo>
                    <a:pt x="3993956" y="0"/>
                    <a:pt x="4016684" y="22728"/>
                    <a:pt x="4016684" y="50764"/>
                  </a:cubicBezTo>
                  <a:lnTo>
                    <a:pt x="4016684" y="2116703"/>
                  </a:lnTo>
                  <a:cubicBezTo>
                    <a:pt x="4016684" y="2144739"/>
                    <a:pt x="3993956" y="2167467"/>
                    <a:pt x="3965920" y="2167467"/>
                  </a:cubicBezTo>
                  <a:lnTo>
                    <a:pt x="50764" y="2167467"/>
                  </a:lnTo>
                  <a:cubicBezTo>
                    <a:pt x="37300" y="2167467"/>
                    <a:pt x="24388" y="2162118"/>
                    <a:pt x="14868" y="2152598"/>
                  </a:cubicBezTo>
                  <a:cubicBezTo>
                    <a:pt x="5348" y="2143078"/>
                    <a:pt x="0" y="2130166"/>
                    <a:pt x="0" y="2116703"/>
                  </a:cubicBezTo>
                  <a:lnTo>
                    <a:pt x="0" y="50764"/>
                  </a:lnTo>
                  <a:cubicBezTo>
                    <a:pt x="0" y="22728"/>
                    <a:pt x="22728" y="0"/>
                    <a:pt x="50764" y="0"/>
                  </a:cubicBezTo>
                  <a:close/>
                </a:path>
              </a:pathLst>
            </a:custGeom>
            <a:solidFill>
              <a:srgbClr val="FFFFFE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4016684" cy="22150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2163650" y="3175476"/>
            <a:ext cx="13960701" cy="62426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3499"/>
              </a:lnSpc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 transição para o ensino superior é um período de elevada vulnerabilidade, estimando-se que </a:t>
            </a:r>
            <a:r>
              <a:rPr lang="en-US" sz="24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um terço dos estudantes</a:t>
            </a: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sofra de mal-estar psicológico. Barreiras como o estigma, custos elevados e longas listas de espera dificultam o acesso ao apoio tradicional, que é muitas vezes escasso ou passivo.</a:t>
            </a:r>
          </a:p>
          <a:p>
            <a:pPr marL="0" lvl="0" indent="0" algn="just">
              <a:lnSpc>
                <a:spcPts val="3499"/>
              </a:lnSpc>
            </a:pPr>
            <a:endParaRPr lang="en-US" sz="2499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0" lvl="0" indent="0" algn="just">
              <a:lnSpc>
                <a:spcPts val="4199"/>
              </a:lnSpc>
            </a:pPr>
            <a:r>
              <a:rPr lang="en-US" sz="29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MoveMind</a:t>
            </a:r>
          </a:p>
          <a:p>
            <a:pPr marL="0" lvl="0" indent="0" algn="just">
              <a:lnSpc>
                <a:spcPts val="3499"/>
              </a:lnSpc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O projeto MindMove propõe uma intervenção digital multimodal que combina a Terapia Cognitivo-Comportamental digital (dCBT) com a monitorização ativa do sono e da atividade física. Direcionada para estudantes com sintomas depressivos ligeiros a moderados (PHQ-9 entre 5 e 14), a aplicação funciona como uma ferramenta preventiva que visa evitar o agravamento do quadro clínico através de um suporte contínuo e personalizado. Ao comparar esta solução tecnológica com o suporte informativo estático, o estudo procura demonstrar a eficácia de uma abordagem escalável e superior ao padrão de cuidado atual nas universidades portuguesas, oferecendo uma resposta moderna e eficiente aos desafios da saúde mental no contexto académico.</a:t>
            </a:r>
          </a:p>
          <a:p>
            <a:pPr marL="0" lvl="0" indent="0" algn="ctr">
              <a:lnSpc>
                <a:spcPts val="3431"/>
              </a:lnSpc>
            </a:pPr>
            <a:endParaRPr lang="en-US" sz="2499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4544195" y="1297746"/>
            <a:ext cx="9199611" cy="1832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8"/>
              </a:lnSpc>
            </a:pPr>
            <a:r>
              <a:rPr lang="en-US" sz="912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Racional</a:t>
            </a:r>
          </a:p>
          <a:p>
            <a:pPr marL="0" lvl="0" indent="0" algn="ctr">
              <a:lnSpc>
                <a:spcPts val="4600"/>
              </a:lnSpc>
            </a:pPr>
            <a:r>
              <a:rPr lang="en-US" sz="50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 lacuna no apoio académico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-1434465" y="7936076"/>
            <a:ext cx="8279532" cy="9266871"/>
            <a:chOff x="0" y="0"/>
            <a:chExt cx="11039376" cy="12355828"/>
          </a:xfrm>
        </p:grpSpPr>
        <p:sp>
          <p:nvSpPr>
            <p:cNvPr id="3" name="Freeform 3"/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4" name="Freeform 4"/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1246542" y="-6136759"/>
            <a:ext cx="8279532" cy="9266871"/>
            <a:chOff x="0" y="0"/>
            <a:chExt cx="11039376" cy="12355828"/>
          </a:xfrm>
        </p:grpSpPr>
        <p:sp>
          <p:nvSpPr>
            <p:cNvPr id="6" name="Freeform 6"/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pt-PT"/>
            </a:p>
          </p:txBody>
        </p:sp>
        <p:sp>
          <p:nvSpPr>
            <p:cNvPr id="7" name="Freeform 7"/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273638" y="693030"/>
            <a:ext cx="15740723" cy="8900940"/>
            <a:chOff x="0" y="0"/>
            <a:chExt cx="4145705" cy="234428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145705" cy="2344280"/>
            </a:xfrm>
            <a:custGeom>
              <a:avLst/>
              <a:gdLst/>
              <a:ahLst/>
              <a:cxnLst/>
              <a:rect l="l" t="t" r="r" b="b"/>
              <a:pathLst>
                <a:path w="4145705" h="2344280">
                  <a:moveTo>
                    <a:pt x="49184" y="0"/>
                  </a:moveTo>
                  <a:lnTo>
                    <a:pt x="4096521" y="0"/>
                  </a:lnTo>
                  <a:cubicBezTo>
                    <a:pt x="4109565" y="0"/>
                    <a:pt x="4122076" y="5182"/>
                    <a:pt x="4131299" y="14406"/>
                  </a:cubicBezTo>
                  <a:cubicBezTo>
                    <a:pt x="4140523" y="23629"/>
                    <a:pt x="4145705" y="36140"/>
                    <a:pt x="4145705" y="49184"/>
                  </a:cubicBezTo>
                  <a:lnTo>
                    <a:pt x="4145705" y="2295096"/>
                  </a:lnTo>
                  <a:cubicBezTo>
                    <a:pt x="4145705" y="2308141"/>
                    <a:pt x="4140523" y="2320651"/>
                    <a:pt x="4131299" y="2329875"/>
                  </a:cubicBezTo>
                  <a:cubicBezTo>
                    <a:pt x="4122076" y="2339099"/>
                    <a:pt x="4109565" y="2344280"/>
                    <a:pt x="4096521" y="2344280"/>
                  </a:cubicBezTo>
                  <a:lnTo>
                    <a:pt x="49184" y="2344280"/>
                  </a:lnTo>
                  <a:cubicBezTo>
                    <a:pt x="22020" y="2344280"/>
                    <a:pt x="0" y="2322260"/>
                    <a:pt x="0" y="2295096"/>
                  </a:cubicBezTo>
                  <a:lnTo>
                    <a:pt x="0" y="49184"/>
                  </a:lnTo>
                  <a:cubicBezTo>
                    <a:pt x="0" y="36140"/>
                    <a:pt x="5182" y="23629"/>
                    <a:pt x="14406" y="14406"/>
                  </a:cubicBezTo>
                  <a:cubicBezTo>
                    <a:pt x="23629" y="5182"/>
                    <a:pt x="36140" y="0"/>
                    <a:pt x="49184" y="0"/>
                  </a:cubicBezTo>
                  <a:close/>
                </a:path>
              </a:pathLst>
            </a:custGeom>
            <a:solidFill>
              <a:srgbClr val="BFDBF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4145705" cy="239190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518577" y="1028700"/>
            <a:ext cx="15250847" cy="8229600"/>
            <a:chOff x="0" y="0"/>
            <a:chExt cx="4016684" cy="2167467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4016684" cy="2167467"/>
            </a:xfrm>
            <a:custGeom>
              <a:avLst/>
              <a:gdLst/>
              <a:ahLst/>
              <a:cxnLst/>
              <a:rect l="l" t="t" r="r" b="b"/>
              <a:pathLst>
                <a:path w="4016684" h="2167467">
                  <a:moveTo>
                    <a:pt x="50764" y="0"/>
                  </a:moveTo>
                  <a:lnTo>
                    <a:pt x="3965920" y="0"/>
                  </a:lnTo>
                  <a:cubicBezTo>
                    <a:pt x="3993956" y="0"/>
                    <a:pt x="4016684" y="22728"/>
                    <a:pt x="4016684" y="50764"/>
                  </a:cubicBezTo>
                  <a:lnTo>
                    <a:pt x="4016684" y="2116703"/>
                  </a:lnTo>
                  <a:cubicBezTo>
                    <a:pt x="4016684" y="2144739"/>
                    <a:pt x="3993956" y="2167467"/>
                    <a:pt x="3965920" y="2167467"/>
                  </a:cubicBezTo>
                  <a:lnTo>
                    <a:pt x="50764" y="2167467"/>
                  </a:lnTo>
                  <a:cubicBezTo>
                    <a:pt x="37300" y="2167467"/>
                    <a:pt x="24388" y="2162118"/>
                    <a:pt x="14868" y="2152598"/>
                  </a:cubicBezTo>
                  <a:cubicBezTo>
                    <a:pt x="5348" y="2143078"/>
                    <a:pt x="0" y="2130166"/>
                    <a:pt x="0" y="2116703"/>
                  </a:cubicBezTo>
                  <a:lnTo>
                    <a:pt x="0" y="50764"/>
                  </a:lnTo>
                  <a:cubicBezTo>
                    <a:pt x="0" y="22728"/>
                    <a:pt x="22728" y="0"/>
                    <a:pt x="50764" y="0"/>
                  </a:cubicBezTo>
                  <a:close/>
                </a:path>
              </a:pathLst>
            </a:custGeom>
            <a:solidFill>
              <a:srgbClr val="FFFFFE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4016684" cy="22150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2310905" y="4382406"/>
            <a:ext cx="5862565" cy="761094"/>
            <a:chOff x="0" y="0"/>
            <a:chExt cx="1544050" cy="200453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544050" cy="200453"/>
            </a:xfrm>
            <a:custGeom>
              <a:avLst/>
              <a:gdLst/>
              <a:ahLst/>
              <a:cxnLst/>
              <a:rect l="l" t="t" r="r" b="b"/>
              <a:pathLst>
                <a:path w="1544050" h="200453">
                  <a:moveTo>
                    <a:pt x="67349" y="0"/>
                  </a:moveTo>
                  <a:lnTo>
                    <a:pt x="1476701" y="0"/>
                  </a:lnTo>
                  <a:cubicBezTo>
                    <a:pt x="1494563" y="0"/>
                    <a:pt x="1511693" y="7096"/>
                    <a:pt x="1524324" y="19726"/>
                  </a:cubicBezTo>
                  <a:cubicBezTo>
                    <a:pt x="1536954" y="32356"/>
                    <a:pt x="1544050" y="49487"/>
                    <a:pt x="1544050" y="67349"/>
                  </a:cubicBezTo>
                  <a:lnTo>
                    <a:pt x="1544050" y="133104"/>
                  </a:lnTo>
                  <a:cubicBezTo>
                    <a:pt x="1544050" y="150966"/>
                    <a:pt x="1536954" y="168096"/>
                    <a:pt x="1524324" y="180727"/>
                  </a:cubicBezTo>
                  <a:cubicBezTo>
                    <a:pt x="1511693" y="193357"/>
                    <a:pt x="1494563" y="200453"/>
                    <a:pt x="1476701" y="200453"/>
                  </a:cubicBezTo>
                  <a:lnTo>
                    <a:pt x="67349" y="200453"/>
                  </a:lnTo>
                  <a:cubicBezTo>
                    <a:pt x="30153" y="200453"/>
                    <a:pt x="0" y="170300"/>
                    <a:pt x="0" y="133104"/>
                  </a:cubicBezTo>
                  <a:lnTo>
                    <a:pt x="0" y="67349"/>
                  </a:lnTo>
                  <a:cubicBezTo>
                    <a:pt x="0" y="49487"/>
                    <a:pt x="7096" y="32356"/>
                    <a:pt x="19726" y="19726"/>
                  </a:cubicBezTo>
                  <a:cubicBezTo>
                    <a:pt x="32356" y="7096"/>
                    <a:pt x="49487" y="0"/>
                    <a:pt x="67349" y="0"/>
                  </a:cubicBezTo>
                  <a:close/>
                </a:path>
              </a:pathLst>
            </a:custGeom>
            <a:solidFill>
              <a:srgbClr val="BFDBFF"/>
            </a:solidFill>
          </p:spPr>
          <p:txBody>
            <a:bodyPr/>
            <a:lstStyle/>
            <a:p>
              <a:endParaRPr lang="pt-PT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47625"/>
              <a:ext cx="1544050" cy="2480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2310905" y="5713576"/>
            <a:ext cx="5862565" cy="2222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3499"/>
              </a:lnSpc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Avaliar a eficácia da intervenção digital MindMove na </a:t>
            </a:r>
            <a:r>
              <a:rPr lang="en-US" sz="24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redução dos sintomas depressivos</a:t>
            </a: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, medidos através do questionário PHQ-9, em estudantes universitários.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4544195" y="2238498"/>
            <a:ext cx="9199611" cy="13247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8398"/>
              </a:lnSpc>
            </a:pPr>
            <a:r>
              <a:rPr lang="en-US" sz="912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Objetivos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3172304" y="4424815"/>
            <a:ext cx="4139766" cy="5619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199"/>
              </a:lnSpc>
              <a:spcBef>
                <a:spcPct val="0"/>
              </a:spcBef>
            </a:pPr>
            <a:r>
              <a:rPr lang="en-US" sz="29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Objetivo primário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10140211" y="4382406"/>
            <a:ext cx="5862565" cy="761094"/>
            <a:chOff x="0" y="0"/>
            <a:chExt cx="1544050" cy="200453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544050" cy="200453"/>
            </a:xfrm>
            <a:custGeom>
              <a:avLst/>
              <a:gdLst/>
              <a:ahLst/>
              <a:cxnLst/>
              <a:rect l="l" t="t" r="r" b="b"/>
              <a:pathLst>
                <a:path w="1544050" h="200453">
                  <a:moveTo>
                    <a:pt x="67349" y="0"/>
                  </a:moveTo>
                  <a:lnTo>
                    <a:pt x="1476701" y="0"/>
                  </a:lnTo>
                  <a:cubicBezTo>
                    <a:pt x="1494563" y="0"/>
                    <a:pt x="1511693" y="7096"/>
                    <a:pt x="1524324" y="19726"/>
                  </a:cubicBezTo>
                  <a:cubicBezTo>
                    <a:pt x="1536954" y="32356"/>
                    <a:pt x="1544050" y="49487"/>
                    <a:pt x="1544050" y="67349"/>
                  </a:cubicBezTo>
                  <a:lnTo>
                    <a:pt x="1544050" y="133104"/>
                  </a:lnTo>
                  <a:cubicBezTo>
                    <a:pt x="1544050" y="150966"/>
                    <a:pt x="1536954" y="168096"/>
                    <a:pt x="1524324" y="180727"/>
                  </a:cubicBezTo>
                  <a:cubicBezTo>
                    <a:pt x="1511693" y="193357"/>
                    <a:pt x="1494563" y="200453"/>
                    <a:pt x="1476701" y="200453"/>
                  </a:cubicBezTo>
                  <a:lnTo>
                    <a:pt x="67349" y="200453"/>
                  </a:lnTo>
                  <a:cubicBezTo>
                    <a:pt x="30153" y="200453"/>
                    <a:pt x="0" y="170300"/>
                    <a:pt x="0" y="133104"/>
                  </a:cubicBezTo>
                  <a:lnTo>
                    <a:pt x="0" y="67349"/>
                  </a:lnTo>
                  <a:cubicBezTo>
                    <a:pt x="0" y="49487"/>
                    <a:pt x="7096" y="32356"/>
                    <a:pt x="19726" y="19726"/>
                  </a:cubicBezTo>
                  <a:cubicBezTo>
                    <a:pt x="32356" y="7096"/>
                    <a:pt x="49487" y="0"/>
                    <a:pt x="67349" y="0"/>
                  </a:cubicBezTo>
                  <a:close/>
                </a:path>
              </a:pathLst>
            </a:custGeom>
            <a:solidFill>
              <a:srgbClr val="BFDBFF"/>
            </a:solidFill>
          </p:spPr>
          <p:txBody>
            <a:bodyPr/>
            <a:lstStyle/>
            <a:p>
              <a:endParaRPr lang="pt-PT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47625"/>
              <a:ext cx="1544050" cy="2480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11001610" y="4424815"/>
            <a:ext cx="4139766" cy="5619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199"/>
              </a:lnSpc>
              <a:spcBef>
                <a:spcPct val="0"/>
              </a:spcBef>
            </a:pPr>
            <a:r>
              <a:rPr lang="en-US" sz="29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Objetivos secundários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0140211" y="5713576"/>
            <a:ext cx="5862565" cy="1784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3499"/>
              </a:lnSpc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Avaliar o </a:t>
            </a:r>
            <a:r>
              <a:rPr lang="en-US" sz="24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impacto na ansiedade </a:t>
            </a: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(GAD-7), </a:t>
            </a:r>
            <a:r>
              <a:rPr lang="en-US" sz="24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qualidade do sono</a:t>
            </a: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(PSQI), </a:t>
            </a:r>
            <a:r>
              <a:rPr lang="en-US" sz="24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níveis de atividade física</a:t>
            </a: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, </a:t>
            </a:r>
            <a:r>
              <a:rPr lang="en-US" sz="24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adesão à intervenção</a:t>
            </a: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e </a:t>
            </a:r>
            <a:r>
              <a:rPr lang="en-US" sz="24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usabilidade da aplicação </a:t>
            </a: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(SUS).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-1434465" y="7936076"/>
            <a:ext cx="8279532" cy="9266871"/>
            <a:chOff x="0" y="0"/>
            <a:chExt cx="11039376" cy="12355828"/>
          </a:xfrm>
        </p:grpSpPr>
        <p:sp>
          <p:nvSpPr>
            <p:cNvPr id="3" name="Freeform 3"/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4" name="Freeform 4"/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1246542" y="-6136759"/>
            <a:ext cx="8279532" cy="9266871"/>
            <a:chOff x="0" y="0"/>
            <a:chExt cx="11039376" cy="12355828"/>
          </a:xfrm>
        </p:grpSpPr>
        <p:sp>
          <p:nvSpPr>
            <p:cNvPr id="6" name="Freeform 6"/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pt-PT"/>
            </a:p>
          </p:txBody>
        </p:sp>
        <p:sp>
          <p:nvSpPr>
            <p:cNvPr id="7" name="Freeform 7"/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273638" y="693030"/>
            <a:ext cx="15740723" cy="8900940"/>
            <a:chOff x="0" y="0"/>
            <a:chExt cx="4145705" cy="234428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145705" cy="2344280"/>
            </a:xfrm>
            <a:custGeom>
              <a:avLst/>
              <a:gdLst/>
              <a:ahLst/>
              <a:cxnLst/>
              <a:rect l="l" t="t" r="r" b="b"/>
              <a:pathLst>
                <a:path w="4145705" h="2344280">
                  <a:moveTo>
                    <a:pt x="49184" y="0"/>
                  </a:moveTo>
                  <a:lnTo>
                    <a:pt x="4096521" y="0"/>
                  </a:lnTo>
                  <a:cubicBezTo>
                    <a:pt x="4109565" y="0"/>
                    <a:pt x="4122076" y="5182"/>
                    <a:pt x="4131299" y="14406"/>
                  </a:cubicBezTo>
                  <a:cubicBezTo>
                    <a:pt x="4140523" y="23629"/>
                    <a:pt x="4145705" y="36140"/>
                    <a:pt x="4145705" y="49184"/>
                  </a:cubicBezTo>
                  <a:lnTo>
                    <a:pt x="4145705" y="2295096"/>
                  </a:lnTo>
                  <a:cubicBezTo>
                    <a:pt x="4145705" y="2308141"/>
                    <a:pt x="4140523" y="2320651"/>
                    <a:pt x="4131299" y="2329875"/>
                  </a:cubicBezTo>
                  <a:cubicBezTo>
                    <a:pt x="4122076" y="2339099"/>
                    <a:pt x="4109565" y="2344280"/>
                    <a:pt x="4096521" y="2344280"/>
                  </a:cubicBezTo>
                  <a:lnTo>
                    <a:pt x="49184" y="2344280"/>
                  </a:lnTo>
                  <a:cubicBezTo>
                    <a:pt x="22020" y="2344280"/>
                    <a:pt x="0" y="2322260"/>
                    <a:pt x="0" y="2295096"/>
                  </a:cubicBezTo>
                  <a:lnTo>
                    <a:pt x="0" y="49184"/>
                  </a:lnTo>
                  <a:cubicBezTo>
                    <a:pt x="0" y="36140"/>
                    <a:pt x="5182" y="23629"/>
                    <a:pt x="14406" y="14406"/>
                  </a:cubicBezTo>
                  <a:cubicBezTo>
                    <a:pt x="23629" y="5182"/>
                    <a:pt x="36140" y="0"/>
                    <a:pt x="49184" y="0"/>
                  </a:cubicBezTo>
                  <a:close/>
                </a:path>
              </a:pathLst>
            </a:custGeom>
            <a:solidFill>
              <a:srgbClr val="BFDBF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4145705" cy="239190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518577" y="1028700"/>
            <a:ext cx="15250847" cy="8229600"/>
            <a:chOff x="0" y="0"/>
            <a:chExt cx="4016684" cy="2167467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4016684" cy="2167467"/>
            </a:xfrm>
            <a:custGeom>
              <a:avLst/>
              <a:gdLst/>
              <a:ahLst/>
              <a:cxnLst/>
              <a:rect l="l" t="t" r="r" b="b"/>
              <a:pathLst>
                <a:path w="4016684" h="2167467">
                  <a:moveTo>
                    <a:pt x="50764" y="0"/>
                  </a:moveTo>
                  <a:lnTo>
                    <a:pt x="3965920" y="0"/>
                  </a:lnTo>
                  <a:cubicBezTo>
                    <a:pt x="3993956" y="0"/>
                    <a:pt x="4016684" y="22728"/>
                    <a:pt x="4016684" y="50764"/>
                  </a:cubicBezTo>
                  <a:lnTo>
                    <a:pt x="4016684" y="2116703"/>
                  </a:lnTo>
                  <a:cubicBezTo>
                    <a:pt x="4016684" y="2144739"/>
                    <a:pt x="3993956" y="2167467"/>
                    <a:pt x="3965920" y="2167467"/>
                  </a:cubicBezTo>
                  <a:lnTo>
                    <a:pt x="50764" y="2167467"/>
                  </a:lnTo>
                  <a:cubicBezTo>
                    <a:pt x="37300" y="2167467"/>
                    <a:pt x="24388" y="2162118"/>
                    <a:pt x="14868" y="2152598"/>
                  </a:cubicBezTo>
                  <a:cubicBezTo>
                    <a:pt x="5348" y="2143078"/>
                    <a:pt x="0" y="2130166"/>
                    <a:pt x="0" y="2116703"/>
                  </a:cubicBezTo>
                  <a:lnTo>
                    <a:pt x="0" y="50764"/>
                  </a:lnTo>
                  <a:cubicBezTo>
                    <a:pt x="0" y="22728"/>
                    <a:pt x="22728" y="0"/>
                    <a:pt x="50764" y="0"/>
                  </a:cubicBezTo>
                  <a:close/>
                </a:path>
              </a:pathLst>
            </a:custGeom>
            <a:solidFill>
              <a:srgbClr val="FFFFFE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4016684" cy="22150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2163650" y="4401136"/>
            <a:ext cx="13960701" cy="30898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499"/>
              </a:lnSpc>
            </a:pPr>
            <a:r>
              <a:rPr lang="en-US" sz="24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Ensaio clínico randomizado (RCT) paralelo</a:t>
            </a: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com 30 participantes e alocação 1:1. O grupo intervenção utiliza a aplicação MindMove com monitorização, alertas e conteúdo educativo.</a:t>
            </a:r>
          </a:p>
          <a:p>
            <a:pPr algn="just">
              <a:lnSpc>
                <a:spcPts val="3499"/>
              </a:lnSpc>
            </a:pPr>
            <a:endParaRPr lang="en-US" sz="2499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algn="just">
              <a:lnSpc>
                <a:spcPts val="3499"/>
              </a:lnSpc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O grupo controlo em lista de espera recebe brochuras informativas (standard ofcare). Período do estudo: 21 a 27 de março de 2026 (fase piloto).</a:t>
            </a:r>
          </a:p>
          <a:p>
            <a:pPr marL="0" lvl="0" indent="0" algn="just">
              <a:lnSpc>
                <a:spcPts val="3499"/>
              </a:lnSpc>
            </a:pPr>
            <a:endParaRPr lang="en-US" sz="2499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0" lvl="0" indent="0" algn="ctr">
              <a:lnSpc>
                <a:spcPts val="3431"/>
              </a:lnSpc>
            </a:pPr>
            <a:endParaRPr lang="en-US" sz="2499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4544195" y="2496308"/>
            <a:ext cx="9199611" cy="13247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8398"/>
              </a:lnSpc>
            </a:pPr>
            <a:r>
              <a:rPr lang="en-US" sz="912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Desenho de Estudo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-1434465" y="7936076"/>
            <a:ext cx="8279532" cy="9266871"/>
            <a:chOff x="0" y="0"/>
            <a:chExt cx="11039376" cy="12355828"/>
          </a:xfrm>
        </p:grpSpPr>
        <p:sp>
          <p:nvSpPr>
            <p:cNvPr id="3" name="Freeform 3"/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4" name="Freeform 4"/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1246542" y="-6136759"/>
            <a:ext cx="8279532" cy="9266871"/>
            <a:chOff x="0" y="0"/>
            <a:chExt cx="11039376" cy="12355828"/>
          </a:xfrm>
        </p:grpSpPr>
        <p:sp>
          <p:nvSpPr>
            <p:cNvPr id="6" name="Freeform 6"/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pt-PT"/>
            </a:p>
          </p:txBody>
        </p:sp>
        <p:sp>
          <p:nvSpPr>
            <p:cNvPr id="7" name="Freeform 7"/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273638" y="693030"/>
            <a:ext cx="15740723" cy="8900940"/>
            <a:chOff x="0" y="0"/>
            <a:chExt cx="4145705" cy="234428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145705" cy="2344280"/>
            </a:xfrm>
            <a:custGeom>
              <a:avLst/>
              <a:gdLst/>
              <a:ahLst/>
              <a:cxnLst/>
              <a:rect l="l" t="t" r="r" b="b"/>
              <a:pathLst>
                <a:path w="4145705" h="2344280">
                  <a:moveTo>
                    <a:pt x="49184" y="0"/>
                  </a:moveTo>
                  <a:lnTo>
                    <a:pt x="4096521" y="0"/>
                  </a:lnTo>
                  <a:cubicBezTo>
                    <a:pt x="4109565" y="0"/>
                    <a:pt x="4122076" y="5182"/>
                    <a:pt x="4131299" y="14406"/>
                  </a:cubicBezTo>
                  <a:cubicBezTo>
                    <a:pt x="4140523" y="23629"/>
                    <a:pt x="4145705" y="36140"/>
                    <a:pt x="4145705" y="49184"/>
                  </a:cubicBezTo>
                  <a:lnTo>
                    <a:pt x="4145705" y="2295096"/>
                  </a:lnTo>
                  <a:cubicBezTo>
                    <a:pt x="4145705" y="2308141"/>
                    <a:pt x="4140523" y="2320651"/>
                    <a:pt x="4131299" y="2329875"/>
                  </a:cubicBezTo>
                  <a:cubicBezTo>
                    <a:pt x="4122076" y="2339099"/>
                    <a:pt x="4109565" y="2344280"/>
                    <a:pt x="4096521" y="2344280"/>
                  </a:cubicBezTo>
                  <a:lnTo>
                    <a:pt x="49184" y="2344280"/>
                  </a:lnTo>
                  <a:cubicBezTo>
                    <a:pt x="22020" y="2344280"/>
                    <a:pt x="0" y="2322260"/>
                    <a:pt x="0" y="2295096"/>
                  </a:cubicBezTo>
                  <a:lnTo>
                    <a:pt x="0" y="49184"/>
                  </a:lnTo>
                  <a:cubicBezTo>
                    <a:pt x="0" y="36140"/>
                    <a:pt x="5182" y="23629"/>
                    <a:pt x="14406" y="14406"/>
                  </a:cubicBezTo>
                  <a:cubicBezTo>
                    <a:pt x="23629" y="5182"/>
                    <a:pt x="36140" y="0"/>
                    <a:pt x="49184" y="0"/>
                  </a:cubicBezTo>
                  <a:close/>
                </a:path>
              </a:pathLst>
            </a:custGeom>
            <a:solidFill>
              <a:srgbClr val="BFDBF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4145705" cy="239190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518577" y="1028700"/>
            <a:ext cx="15250847" cy="8229600"/>
            <a:chOff x="0" y="0"/>
            <a:chExt cx="4016684" cy="2167467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4016684" cy="2167467"/>
            </a:xfrm>
            <a:custGeom>
              <a:avLst/>
              <a:gdLst/>
              <a:ahLst/>
              <a:cxnLst/>
              <a:rect l="l" t="t" r="r" b="b"/>
              <a:pathLst>
                <a:path w="4016684" h="2167467">
                  <a:moveTo>
                    <a:pt x="50764" y="0"/>
                  </a:moveTo>
                  <a:lnTo>
                    <a:pt x="3965920" y="0"/>
                  </a:lnTo>
                  <a:cubicBezTo>
                    <a:pt x="3993956" y="0"/>
                    <a:pt x="4016684" y="22728"/>
                    <a:pt x="4016684" y="50764"/>
                  </a:cubicBezTo>
                  <a:lnTo>
                    <a:pt x="4016684" y="2116703"/>
                  </a:lnTo>
                  <a:cubicBezTo>
                    <a:pt x="4016684" y="2144739"/>
                    <a:pt x="3993956" y="2167467"/>
                    <a:pt x="3965920" y="2167467"/>
                  </a:cubicBezTo>
                  <a:lnTo>
                    <a:pt x="50764" y="2167467"/>
                  </a:lnTo>
                  <a:cubicBezTo>
                    <a:pt x="37300" y="2167467"/>
                    <a:pt x="24388" y="2162118"/>
                    <a:pt x="14868" y="2152598"/>
                  </a:cubicBezTo>
                  <a:cubicBezTo>
                    <a:pt x="5348" y="2143078"/>
                    <a:pt x="0" y="2130166"/>
                    <a:pt x="0" y="2116703"/>
                  </a:cubicBezTo>
                  <a:lnTo>
                    <a:pt x="0" y="50764"/>
                  </a:lnTo>
                  <a:cubicBezTo>
                    <a:pt x="0" y="22728"/>
                    <a:pt x="22728" y="0"/>
                    <a:pt x="50764" y="0"/>
                  </a:cubicBezTo>
                  <a:close/>
                </a:path>
              </a:pathLst>
            </a:custGeom>
            <a:solidFill>
              <a:srgbClr val="FFFFFE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4016684" cy="22150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AutoShape 14"/>
          <p:cNvSpPr/>
          <p:nvPr/>
        </p:nvSpPr>
        <p:spPr>
          <a:xfrm>
            <a:off x="2443244" y="6138640"/>
            <a:ext cx="13681107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 lang="pt-PT"/>
          </a:p>
        </p:txBody>
      </p:sp>
      <p:grpSp>
        <p:nvGrpSpPr>
          <p:cNvPr id="15" name="Group 15"/>
          <p:cNvGrpSpPr/>
          <p:nvPr/>
        </p:nvGrpSpPr>
        <p:grpSpPr>
          <a:xfrm>
            <a:off x="2227395" y="6015242"/>
            <a:ext cx="246796" cy="246796"/>
            <a:chOff x="0" y="0"/>
            <a:chExt cx="812800" cy="8128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PT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2350793" y="1666679"/>
            <a:ext cx="13773557" cy="23820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8398"/>
              </a:lnSpc>
            </a:pPr>
            <a:r>
              <a:rPr lang="en-US" sz="912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Metodologia e fluxo do estudo</a:t>
            </a:r>
          </a:p>
        </p:txBody>
      </p:sp>
      <p:grpSp>
        <p:nvGrpSpPr>
          <p:cNvPr id="19" name="Group 19"/>
          <p:cNvGrpSpPr/>
          <p:nvPr/>
        </p:nvGrpSpPr>
        <p:grpSpPr>
          <a:xfrm>
            <a:off x="4673853" y="6015242"/>
            <a:ext cx="246796" cy="246796"/>
            <a:chOff x="0" y="0"/>
            <a:chExt cx="812800" cy="8128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PT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7149499" y="6015242"/>
            <a:ext cx="246796" cy="246796"/>
            <a:chOff x="0" y="0"/>
            <a:chExt cx="812800" cy="8128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PT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9625146" y="6015242"/>
            <a:ext cx="246796" cy="246796"/>
            <a:chOff x="0" y="0"/>
            <a:chExt cx="812800" cy="81280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PT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2100792" y="6015242"/>
            <a:ext cx="246796" cy="246796"/>
            <a:chOff x="0" y="0"/>
            <a:chExt cx="812800" cy="81280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PT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14576438" y="6015242"/>
            <a:ext cx="246796" cy="246796"/>
            <a:chOff x="0" y="0"/>
            <a:chExt cx="812800" cy="812800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PT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1518577" y="6521586"/>
            <a:ext cx="2141633" cy="666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Stinger Fit"/>
                <a:ea typeface="Stinger Fit"/>
                <a:cs typeface="Stinger Fit"/>
                <a:sym typeface="Stinger Fit"/>
              </a:rPr>
              <a:t>Seleção de participantes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3660210" y="6521586"/>
            <a:ext cx="2463316" cy="666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Stinger Fit"/>
                <a:ea typeface="Stinger Fit"/>
                <a:cs typeface="Stinger Fit"/>
                <a:sym typeface="Stinger Fit"/>
              </a:rPr>
              <a:t>Avaliação inicial (PHQ-9, GAD-7)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6451752" y="6521586"/>
            <a:ext cx="1642291" cy="9994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Stinger Fit"/>
                <a:ea typeface="Stinger Fit"/>
                <a:cs typeface="Stinger Fit"/>
                <a:sym typeface="Stinger Fit"/>
              </a:rPr>
              <a:t>Data definida pelos investigadores 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8701425" y="6521586"/>
            <a:ext cx="2094238" cy="666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Stinger Fit"/>
                <a:ea typeface="Stinger Fit"/>
                <a:cs typeface="Stinger Fit"/>
                <a:sym typeface="Stinger Fit"/>
              </a:rPr>
              <a:t>Avaliação intermédia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177071" y="6521586"/>
            <a:ext cx="2094238" cy="332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Stinger Fit"/>
                <a:ea typeface="Stinger Fit"/>
                <a:cs typeface="Stinger Fit"/>
                <a:sym typeface="Stinger Fit"/>
              </a:rPr>
              <a:t>Avaliação final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3523013" y="6521586"/>
            <a:ext cx="2353645" cy="332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Stinger Fit"/>
                <a:ea typeface="Stinger Fit"/>
                <a:cs typeface="Stinger Fit"/>
                <a:sym typeface="Stinger Fit"/>
              </a:rPr>
              <a:t>Acompanhamento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-1434465" y="7936076"/>
            <a:ext cx="8279532" cy="9266871"/>
            <a:chOff x="0" y="0"/>
            <a:chExt cx="11039376" cy="12355828"/>
          </a:xfrm>
        </p:grpSpPr>
        <p:sp>
          <p:nvSpPr>
            <p:cNvPr id="3" name="Freeform 3"/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4" name="Freeform 4"/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1246542" y="-6136759"/>
            <a:ext cx="8279532" cy="9266871"/>
            <a:chOff x="0" y="0"/>
            <a:chExt cx="11039376" cy="12355828"/>
          </a:xfrm>
        </p:grpSpPr>
        <p:sp>
          <p:nvSpPr>
            <p:cNvPr id="6" name="Freeform 6"/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pt-PT"/>
            </a:p>
          </p:txBody>
        </p:sp>
        <p:sp>
          <p:nvSpPr>
            <p:cNvPr id="7" name="Freeform 7"/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273638" y="693030"/>
            <a:ext cx="15740723" cy="8900940"/>
            <a:chOff x="0" y="0"/>
            <a:chExt cx="4145705" cy="234428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145705" cy="2344280"/>
            </a:xfrm>
            <a:custGeom>
              <a:avLst/>
              <a:gdLst/>
              <a:ahLst/>
              <a:cxnLst/>
              <a:rect l="l" t="t" r="r" b="b"/>
              <a:pathLst>
                <a:path w="4145705" h="2344280">
                  <a:moveTo>
                    <a:pt x="49184" y="0"/>
                  </a:moveTo>
                  <a:lnTo>
                    <a:pt x="4096521" y="0"/>
                  </a:lnTo>
                  <a:cubicBezTo>
                    <a:pt x="4109565" y="0"/>
                    <a:pt x="4122076" y="5182"/>
                    <a:pt x="4131299" y="14406"/>
                  </a:cubicBezTo>
                  <a:cubicBezTo>
                    <a:pt x="4140523" y="23629"/>
                    <a:pt x="4145705" y="36140"/>
                    <a:pt x="4145705" y="49184"/>
                  </a:cubicBezTo>
                  <a:lnTo>
                    <a:pt x="4145705" y="2295096"/>
                  </a:lnTo>
                  <a:cubicBezTo>
                    <a:pt x="4145705" y="2308141"/>
                    <a:pt x="4140523" y="2320651"/>
                    <a:pt x="4131299" y="2329875"/>
                  </a:cubicBezTo>
                  <a:cubicBezTo>
                    <a:pt x="4122076" y="2339099"/>
                    <a:pt x="4109565" y="2344280"/>
                    <a:pt x="4096521" y="2344280"/>
                  </a:cubicBezTo>
                  <a:lnTo>
                    <a:pt x="49184" y="2344280"/>
                  </a:lnTo>
                  <a:cubicBezTo>
                    <a:pt x="22020" y="2344280"/>
                    <a:pt x="0" y="2322260"/>
                    <a:pt x="0" y="2295096"/>
                  </a:cubicBezTo>
                  <a:lnTo>
                    <a:pt x="0" y="49184"/>
                  </a:lnTo>
                  <a:cubicBezTo>
                    <a:pt x="0" y="36140"/>
                    <a:pt x="5182" y="23629"/>
                    <a:pt x="14406" y="14406"/>
                  </a:cubicBezTo>
                  <a:cubicBezTo>
                    <a:pt x="23629" y="5182"/>
                    <a:pt x="36140" y="0"/>
                    <a:pt x="49184" y="0"/>
                  </a:cubicBezTo>
                  <a:close/>
                </a:path>
              </a:pathLst>
            </a:custGeom>
            <a:solidFill>
              <a:srgbClr val="BFDBF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4145705" cy="239190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518577" y="1028700"/>
            <a:ext cx="15250847" cy="8229600"/>
            <a:chOff x="0" y="0"/>
            <a:chExt cx="4016684" cy="2167467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4016684" cy="2167467"/>
            </a:xfrm>
            <a:custGeom>
              <a:avLst/>
              <a:gdLst/>
              <a:ahLst/>
              <a:cxnLst/>
              <a:rect l="l" t="t" r="r" b="b"/>
              <a:pathLst>
                <a:path w="4016684" h="2167467">
                  <a:moveTo>
                    <a:pt x="50764" y="0"/>
                  </a:moveTo>
                  <a:lnTo>
                    <a:pt x="3965920" y="0"/>
                  </a:lnTo>
                  <a:cubicBezTo>
                    <a:pt x="3993956" y="0"/>
                    <a:pt x="4016684" y="22728"/>
                    <a:pt x="4016684" y="50764"/>
                  </a:cubicBezTo>
                  <a:lnTo>
                    <a:pt x="4016684" y="2116703"/>
                  </a:lnTo>
                  <a:cubicBezTo>
                    <a:pt x="4016684" y="2144739"/>
                    <a:pt x="3993956" y="2167467"/>
                    <a:pt x="3965920" y="2167467"/>
                  </a:cubicBezTo>
                  <a:lnTo>
                    <a:pt x="50764" y="2167467"/>
                  </a:lnTo>
                  <a:cubicBezTo>
                    <a:pt x="37300" y="2167467"/>
                    <a:pt x="24388" y="2162118"/>
                    <a:pt x="14868" y="2152598"/>
                  </a:cubicBezTo>
                  <a:cubicBezTo>
                    <a:pt x="5348" y="2143078"/>
                    <a:pt x="0" y="2130166"/>
                    <a:pt x="0" y="2116703"/>
                  </a:cubicBezTo>
                  <a:lnTo>
                    <a:pt x="0" y="50764"/>
                  </a:lnTo>
                  <a:cubicBezTo>
                    <a:pt x="0" y="22728"/>
                    <a:pt x="22728" y="0"/>
                    <a:pt x="50764" y="0"/>
                  </a:cubicBezTo>
                  <a:close/>
                </a:path>
              </a:pathLst>
            </a:custGeom>
            <a:solidFill>
              <a:srgbClr val="FFFFFE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4016684" cy="22150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2257221" y="2126293"/>
            <a:ext cx="13773557" cy="13247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8398"/>
              </a:lnSpc>
            </a:pPr>
            <a:r>
              <a:rPr lang="en-US" sz="912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Critérios de elegibilidade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257221" y="3735005"/>
            <a:ext cx="6200371" cy="5391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5250"/>
              </a:lnSpc>
            </a:pPr>
            <a:r>
              <a:rPr lang="en-US" sz="3500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Critérios de Inclusão:</a:t>
            </a:r>
          </a:p>
          <a:p>
            <a:pPr algn="just">
              <a:lnSpc>
                <a:spcPts val="3749"/>
              </a:lnSpc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•Estudantes universitários matriculados;</a:t>
            </a:r>
          </a:p>
          <a:p>
            <a:pPr algn="just">
              <a:lnSpc>
                <a:spcPts val="3749"/>
              </a:lnSpc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•Idade entre 18 e 30 anos;</a:t>
            </a:r>
          </a:p>
          <a:p>
            <a:pPr algn="just">
              <a:lnSpc>
                <a:spcPts val="3749"/>
              </a:lnSpc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•Pontuação PHQ-9 ≥ 5 (sintomas depressivos leves a moderados);</a:t>
            </a:r>
          </a:p>
          <a:p>
            <a:pPr algn="just">
              <a:lnSpc>
                <a:spcPts val="3749"/>
              </a:lnSpc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•Acesso a smartphone com sistema iOS ou Android;</a:t>
            </a:r>
          </a:p>
          <a:p>
            <a:pPr algn="just">
              <a:lnSpc>
                <a:spcPts val="3749"/>
              </a:lnSpc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•Capacidade de fornecer consentimento informado.</a:t>
            </a:r>
          </a:p>
          <a:p>
            <a:pPr algn="just">
              <a:lnSpc>
                <a:spcPts val="3749"/>
              </a:lnSpc>
            </a:pPr>
            <a:endParaRPr lang="en-US" sz="2499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algn="ctr">
              <a:lnSpc>
                <a:spcPts val="3749"/>
              </a:lnSpc>
            </a:pPr>
            <a:endParaRPr lang="en-US" sz="2499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9144000" y="3735005"/>
            <a:ext cx="6886779" cy="3524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5250"/>
              </a:lnSpc>
            </a:pPr>
            <a:r>
              <a:rPr lang="en-US" sz="3500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Critérios de Exclusão:</a:t>
            </a:r>
          </a:p>
          <a:p>
            <a:pPr algn="just">
              <a:lnSpc>
                <a:spcPts val="3749"/>
              </a:lnSpc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•Tratamento psiquiátrico ativo em curso;</a:t>
            </a:r>
          </a:p>
          <a:p>
            <a:pPr algn="just">
              <a:lnSpc>
                <a:spcPts val="3749"/>
              </a:lnSpc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•Presença de ideação suicida (item 9 do PHQ-9 ≥ 2);</a:t>
            </a:r>
          </a:p>
          <a:p>
            <a:pPr algn="just">
              <a:lnSpc>
                <a:spcPts val="3749"/>
              </a:lnSpc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•Diagnóstico de perturbação psicótica ou bipolar;</a:t>
            </a:r>
          </a:p>
          <a:p>
            <a:pPr algn="just">
              <a:lnSpc>
                <a:spcPts val="3749"/>
              </a:lnSpc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•Participação noutro ensaio clínico de saúde mental;</a:t>
            </a:r>
          </a:p>
          <a:p>
            <a:pPr algn="just">
              <a:lnSpc>
                <a:spcPts val="3749"/>
              </a:lnSpc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•Incapacidade de compreender português escrito.</a:t>
            </a:r>
          </a:p>
          <a:p>
            <a:pPr algn="ctr">
              <a:lnSpc>
                <a:spcPts val="3749"/>
              </a:lnSpc>
            </a:pPr>
            <a:endParaRPr lang="en-US" sz="2499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-1434465" y="7936076"/>
            <a:ext cx="8279532" cy="9266871"/>
            <a:chOff x="0" y="0"/>
            <a:chExt cx="11039376" cy="12355828"/>
          </a:xfrm>
        </p:grpSpPr>
        <p:sp>
          <p:nvSpPr>
            <p:cNvPr id="3" name="Freeform 3"/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4" name="Freeform 4"/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1246542" y="-6136759"/>
            <a:ext cx="8279532" cy="9266871"/>
            <a:chOff x="0" y="0"/>
            <a:chExt cx="11039376" cy="12355828"/>
          </a:xfrm>
        </p:grpSpPr>
        <p:sp>
          <p:nvSpPr>
            <p:cNvPr id="6" name="Freeform 6"/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pt-PT"/>
            </a:p>
          </p:txBody>
        </p:sp>
        <p:sp>
          <p:nvSpPr>
            <p:cNvPr id="7" name="Freeform 7"/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273638" y="693030"/>
            <a:ext cx="15740723" cy="8900940"/>
            <a:chOff x="0" y="0"/>
            <a:chExt cx="4145705" cy="234428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145705" cy="2344280"/>
            </a:xfrm>
            <a:custGeom>
              <a:avLst/>
              <a:gdLst/>
              <a:ahLst/>
              <a:cxnLst/>
              <a:rect l="l" t="t" r="r" b="b"/>
              <a:pathLst>
                <a:path w="4145705" h="2344280">
                  <a:moveTo>
                    <a:pt x="49184" y="0"/>
                  </a:moveTo>
                  <a:lnTo>
                    <a:pt x="4096521" y="0"/>
                  </a:lnTo>
                  <a:cubicBezTo>
                    <a:pt x="4109565" y="0"/>
                    <a:pt x="4122076" y="5182"/>
                    <a:pt x="4131299" y="14406"/>
                  </a:cubicBezTo>
                  <a:cubicBezTo>
                    <a:pt x="4140523" y="23629"/>
                    <a:pt x="4145705" y="36140"/>
                    <a:pt x="4145705" y="49184"/>
                  </a:cubicBezTo>
                  <a:lnTo>
                    <a:pt x="4145705" y="2295096"/>
                  </a:lnTo>
                  <a:cubicBezTo>
                    <a:pt x="4145705" y="2308141"/>
                    <a:pt x="4140523" y="2320651"/>
                    <a:pt x="4131299" y="2329875"/>
                  </a:cubicBezTo>
                  <a:cubicBezTo>
                    <a:pt x="4122076" y="2339099"/>
                    <a:pt x="4109565" y="2344280"/>
                    <a:pt x="4096521" y="2344280"/>
                  </a:cubicBezTo>
                  <a:lnTo>
                    <a:pt x="49184" y="2344280"/>
                  </a:lnTo>
                  <a:cubicBezTo>
                    <a:pt x="22020" y="2344280"/>
                    <a:pt x="0" y="2322260"/>
                    <a:pt x="0" y="2295096"/>
                  </a:cubicBezTo>
                  <a:lnTo>
                    <a:pt x="0" y="49184"/>
                  </a:lnTo>
                  <a:cubicBezTo>
                    <a:pt x="0" y="36140"/>
                    <a:pt x="5182" y="23629"/>
                    <a:pt x="14406" y="14406"/>
                  </a:cubicBezTo>
                  <a:cubicBezTo>
                    <a:pt x="23629" y="5182"/>
                    <a:pt x="36140" y="0"/>
                    <a:pt x="49184" y="0"/>
                  </a:cubicBezTo>
                  <a:close/>
                </a:path>
              </a:pathLst>
            </a:custGeom>
            <a:solidFill>
              <a:srgbClr val="BFDBF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4145705" cy="239190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518577" y="1028700"/>
            <a:ext cx="15250847" cy="8229600"/>
            <a:chOff x="0" y="0"/>
            <a:chExt cx="4016684" cy="2167467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4016684" cy="2167467"/>
            </a:xfrm>
            <a:custGeom>
              <a:avLst/>
              <a:gdLst/>
              <a:ahLst/>
              <a:cxnLst/>
              <a:rect l="l" t="t" r="r" b="b"/>
              <a:pathLst>
                <a:path w="4016684" h="2167467">
                  <a:moveTo>
                    <a:pt x="50764" y="0"/>
                  </a:moveTo>
                  <a:lnTo>
                    <a:pt x="3965920" y="0"/>
                  </a:lnTo>
                  <a:cubicBezTo>
                    <a:pt x="3993956" y="0"/>
                    <a:pt x="4016684" y="22728"/>
                    <a:pt x="4016684" y="50764"/>
                  </a:cubicBezTo>
                  <a:lnTo>
                    <a:pt x="4016684" y="2116703"/>
                  </a:lnTo>
                  <a:cubicBezTo>
                    <a:pt x="4016684" y="2144739"/>
                    <a:pt x="3993956" y="2167467"/>
                    <a:pt x="3965920" y="2167467"/>
                  </a:cubicBezTo>
                  <a:lnTo>
                    <a:pt x="50764" y="2167467"/>
                  </a:lnTo>
                  <a:cubicBezTo>
                    <a:pt x="37300" y="2167467"/>
                    <a:pt x="24388" y="2162118"/>
                    <a:pt x="14868" y="2152598"/>
                  </a:cubicBezTo>
                  <a:cubicBezTo>
                    <a:pt x="5348" y="2143078"/>
                    <a:pt x="0" y="2130166"/>
                    <a:pt x="0" y="2116703"/>
                  </a:cubicBezTo>
                  <a:lnTo>
                    <a:pt x="0" y="50764"/>
                  </a:lnTo>
                  <a:cubicBezTo>
                    <a:pt x="0" y="22728"/>
                    <a:pt x="22728" y="0"/>
                    <a:pt x="50764" y="0"/>
                  </a:cubicBezTo>
                  <a:close/>
                </a:path>
              </a:pathLst>
            </a:custGeom>
            <a:solidFill>
              <a:srgbClr val="FFFFFE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4016684" cy="22150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2257221" y="2126293"/>
            <a:ext cx="13773557" cy="13247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8398"/>
              </a:lnSpc>
            </a:pPr>
            <a:r>
              <a:rPr lang="en-US" sz="912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Metodologia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257221" y="3702838"/>
            <a:ext cx="13773557" cy="3724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5250"/>
              </a:lnSpc>
            </a:pPr>
            <a:r>
              <a:rPr lang="en-US" sz="3500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Grupo Intervenção:</a:t>
            </a:r>
          </a:p>
          <a:p>
            <a:pPr algn="just">
              <a:lnSpc>
                <a:spcPts val="3749"/>
              </a:lnSpc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App MindMove com funcionalidades integradas: monitorização contínua de sintomas, alertas personalizados baseados em dados, conteúdo educativo sobre saúde mental e exercícios de bem-estar.</a:t>
            </a:r>
          </a:p>
          <a:p>
            <a:pPr algn="just">
              <a:lnSpc>
                <a:spcPts val="3749"/>
              </a:lnSpc>
            </a:pPr>
            <a:endParaRPr lang="en-US" sz="2499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algn="just">
              <a:lnSpc>
                <a:spcPts val="5250"/>
              </a:lnSpc>
            </a:pPr>
            <a:r>
              <a:rPr lang="en-US" sz="3500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Grupo Controlo:</a:t>
            </a:r>
          </a:p>
          <a:p>
            <a:pPr algn="just">
              <a:lnSpc>
                <a:spcPts val="3749"/>
              </a:lnSpc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Brochuras informativas sobre saúde mental (standard ofcare): material educativo convencional sem componente digital ou interativo, servindo como comparador ativo.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20E0810-9546-AA19-E9EC-477C71AA10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D49E9DE4-30B2-6F3A-F6FE-EA05B1F9CDC4}"/>
              </a:ext>
            </a:extLst>
          </p:cNvPr>
          <p:cNvGrpSpPr/>
          <p:nvPr/>
        </p:nvGrpSpPr>
        <p:grpSpPr>
          <a:xfrm rot="-10800000">
            <a:off x="-1434465" y="7936076"/>
            <a:ext cx="8279532" cy="9266871"/>
            <a:chOff x="0" y="0"/>
            <a:chExt cx="11039376" cy="12355828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4B7B50A-1C17-094C-246C-9BB19B4C0E29}"/>
                </a:ext>
              </a:extLst>
            </p:cNvPr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4C6A1BB5-349D-A1CC-7FDA-39C38C44661F}"/>
                </a:ext>
              </a:extLst>
            </p:cNvPr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2E86219B-FEEF-0AA1-F121-B2A6AC144C0A}"/>
              </a:ext>
            </a:extLst>
          </p:cNvPr>
          <p:cNvGrpSpPr/>
          <p:nvPr/>
        </p:nvGrpSpPr>
        <p:grpSpPr>
          <a:xfrm>
            <a:off x="11246542" y="-6136759"/>
            <a:ext cx="8279532" cy="9266871"/>
            <a:chOff x="0" y="0"/>
            <a:chExt cx="11039376" cy="12355828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F792C25A-F8D6-E17F-6CA2-D527C829D607}"/>
                </a:ext>
              </a:extLst>
            </p:cNvPr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pt-PT"/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E6A20D79-8126-7A60-806C-53FE1687B900}"/>
                </a:ext>
              </a:extLst>
            </p:cNvPr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C68605E2-423F-7C95-6E97-93BA02D5E657}"/>
              </a:ext>
            </a:extLst>
          </p:cNvPr>
          <p:cNvGrpSpPr/>
          <p:nvPr/>
        </p:nvGrpSpPr>
        <p:grpSpPr>
          <a:xfrm>
            <a:off x="1273638" y="693030"/>
            <a:ext cx="15740723" cy="8900940"/>
            <a:chOff x="0" y="0"/>
            <a:chExt cx="4145705" cy="2344280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171CBC28-95E3-2B2D-151B-C77C7987EA5A}"/>
                </a:ext>
              </a:extLst>
            </p:cNvPr>
            <p:cNvSpPr/>
            <p:nvPr/>
          </p:nvSpPr>
          <p:spPr>
            <a:xfrm>
              <a:off x="0" y="0"/>
              <a:ext cx="4145705" cy="2344280"/>
            </a:xfrm>
            <a:custGeom>
              <a:avLst/>
              <a:gdLst/>
              <a:ahLst/>
              <a:cxnLst/>
              <a:rect l="l" t="t" r="r" b="b"/>
              <a:pathLst>
                <a:path w="4145705" h="2344280">
                  <a:moveTo>
                    <a:pt x="49184" y="0"/>
                  </a:moveTo>
                  <a:lnTo>
                    <a:pt x="4096521" y="0"/>
                  </a:lnTo>
                  <a:cubicBezTo>
                    <a:pt x="4109565" y="0"/>
                    <a:pt x="4122076" y="5182"/>
                    <a:pt x="4131299" y="14406"/>
                  </a:cubicBezTo>
                  <a:cubicBezTo>
                    <a:pt x="4140523" y="23629"/>
                    <a:pt x="4145705" y="36140"/>
                    <a:pt x="4145705" y="49184"/>
                  </a:cubicBezTo>
                  <a:lnTo>
                    <a:pt x="4145705" y="2295096"/>
                  </a:lnTo>
                  <a:cubicBezTo>
                    <a:pt x="4145705" y="2308141"/>
                    <a:pt x="4140523" y="2320651"/>
                    <a:pt x="4131299" y="2329875"/>
                  </a:cubicBezTo>
                  <a:cubicBezTo>
                    <a:pt x="4122076" y="2339099"/>
                    <a:pt x="4109565" y="2344280"/>
                    <a:pt x="4096521" y="2344280"/>
                  </a:cubicBezTo>
                  <a:lnTo>
                    <a:pt x="49184" y="2344280"/>
                  </a:lnTo>
                  <a:cubicBezTo>
                    <a:pt x="22020" y="2344280"/>
                    <a:pt x="0" y="2322260"/>
                    <a:pt x="0" y="2295096"/>
                  </a:cubicBezTo>
                  <a:lnTo>
                    <a:pt x="0" y="49184"/>
                  </a:lnTo>
                  <a:cubicBezTo>
                    <a:pt x="0" y="36140"/>
                    <a:pt x="5182" y="23629"/>
                    <a:pt x="14406" y="14406"/>
                  </a:cubicBezTo>
                  <a:cubicBezTo>
                    <a:pt x="23629" y="5182"/>
                    <a:pt x="36140" y="0"/>
                    <a:pt x="49184" y="0"/>
                  </a:cubicBezTo>
                  <a:close/>
                </a:path>
              </a:pathLst>
            </a:custGeom>
            <a:solidFill>
              <a:srgbClr val="BFDBF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AFF6BD67-2E36-F3B7-D2AD-2A869AB90E79}"/>
                </a:ext>
              </a:extLst>
            </p:cNvPr>
            <p:cNvSpPr txBox="1"/>
            <p:nvPr/>
          </p:nvSpPr>
          <p:spPr>
            <a:xfrm>
              <a:off x="0" y="-47625"/>
              <a:ext cx="4145705" cy="239190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1517E098-A16C-236F-38B2-E8EDA910CFEE}"/>
              </a:ext>
            </a:extLst>
          </p:cNvPr>
          <p:cNvGrpSpPr/>
          <p:nvPr/>
        </p:nvGrpSpPr>
        <p:grpSpPr>
          <a:xfrm>
            <a:off x="1518575" y="1099664"/>
            <a:ext cx="15250847" cy="8229600"/>
            <a:chOff x="0" y="0"/>
            <a:chExt cx="4016684" cy="2167467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316AB019-1848-08F2-7499-7AA062C308DC}"/>
                </a:ext>
              </a:extLst>
            </p:cNvPr>
            <p:cNvSpPr/>
            <p:nvPr/>
          </p:nvSpPr>
          <p:spPr>
            <a:xfrm>
              <a:off x="0" y="0"/>
              <a:ext cx="4016684" cy="2167467"/>
            </a:xfrm>
            <a:custGeom>
              <a:avLst/>
              <a:gdLst/>
              <a:ahLst/>
              <a:cxnLst/>
              <a:rect l="l" t="t" r="r" b="b"/>
              <a:pathLst>
                <a:path w="4016684" h="2167467">
                  <a:moveTo>
                    <a:pt x="50764" y="0"/>
                  </a:moveTo>
                  <a:lnTo>
                    <a:pt x="3965920" y="0"/>
                  </a:lnTo>
                  <a:cubicBezTo>
                    <a:pt x="3993956" y="0"/>
                    <a:pt x="4016684" y="22728"/>
                    <a:pt x="4016684" y="50764"/>
                  </a:cubicBezTo>
                  <a:lnTo>
                    <a:pt x="4016684" y="2116703"/>
                  </a:lnTo>
                  <a:cubicBezTo>
                    <a:pt x="4016684" y="2144739"/>
                    <a:pt x="3993956" y="2167467"/>
                    <a:pt x="3965920" y="2167467"/>
                  </a:cubicBezTo>
                  <a:lnTo>
                    <a:pt x="50764" y="2167467"/>
                  </a:lnTo>
                  <a:cubicBezTo>
                    <a:pt x="37300" y="2167467"/>
                    <a:pt x="24388" y="2162118"/>
                    <a:pt x="14868" y="2152598"/>
                  </a:cubicBezTo>
                  <a:cubicBezTo>
                    <a:pt x="5348" y="2143078"/>
                    <a:pt x="0" y="2130166"/>
                    <a:pt x="0" y="2116703"/>
                  </a:cubicBezTo>
                  <a:lnTo>
                    <a:pt x="0" y="50764"/>
                  </a:lnTo>
                  <a:cubicBezTo>
                    <a:pt x="0" y="22728"/>
                    <a:pt x="22728" y="0"/>
                    <a:pt x="50764" y="0"/>
                  </a:cubicBezTo>
                  <a:close/>
                </a:path>
              </a:pathLst>
            </a:custGeom>
            <a:solidFill>
              <a:srgbClr val="FFFFFE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E8CA8FAF-F3D3-EF92-49B4-713FB2C0CE6E}"/>
                </a:ext>
              </a:extLst>
            </p:cNvPr>
            <p:cNvSpPr txBox="1"/>
            <p:nvPr/>
          </p:nvSpPr>
          <p:spPr>
            <a:xfrm>
              <a:off x="0" y="-47625"/>
              <a:ext cx="4016684" cy="22150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>
            <a:extLst>
              <a:ext uri="{FF2B5EF4-FFF2-40B4-BE49-F238E27FC236}">
                <a16:creationId xmlns:a16="http://schemas.microsoft.com/office/drawing/2014/main" id="{10C22223-EA7A-3163-0E0C-91EC47938E2C}"/>
              </a:ext>
            </a:extLst>
          </p:cNvPr>
          <p:cNvSpPr txBox="1"/>
          <p:nvPr/>
        </p:nvSpPr>
        <p:spPr>
          <a:xfrm>
            <a:off x="2257221" y="1792197"/>
            <a:ext cx="13773557" cy="11169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8398"/>
              </a:lnSpc>
            </a:pPr>
            <a:r>
              <a:rPr lang="en-US" sz="912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Outcomes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B4645BA-21B6-4F44-BBAF-6DC984CB2EE7}"/>
              </a:ext>
            </a:extLst>
          </p:cNvPr>
          <p:cNvSpPr txBox="1"/>
          <p:nvPr/>
        </p:nvSpPr>
        <p:spPr>
          <a:xfrm>
            <a:off x="2242425" y="3198422"/>
            <a:ext cx="13773557" cy="63342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pt-PT" sz="2800" b="1" dirty="0" err="1"/>
              <a:t>Outcome</a:t>
            </a:r>
            <a:r>
              <a:rPr lang="pt-PT" sz="2800" b="1" dirty="0"/>
              <a:t> Primário: </a:t>
            </a:r>
            <a:r>
              <a:rPr lang="pt-PT" sz="2800" dirty="0"/>
              <a:t>Variação no score PHQ-9 (</a:t>
            </a:r>
            <a:r>
              <a:rPr lang="pt-PT" sz="2800" dirty="0" err="1"/>
              <a:t>Patient</a:t>
            </a:r>
            <a:r>
              <a:rPr lang="pt-PT" sz="2800" dirty="0"/>
              <a:t> </a:t>
            </a:r>
            <a:r>
              <a:rPr lang="pt-PT" sz="2800" dirty="0" err="1"/>
              <a:t>Health</a:t>
            </a:r>
            <a:r>
              <a:rPr lang="pt-PT" sz="2800" dirty="0"/>
              <a:t> Questionnaire-9) para avaliação da redução de sintomas depressivos.</a:t>
            </a:r>
          </a:p>
          <a:p>
            <a:pPr>
              <a:lnSpc>
                <a:spcPct val="150000"/>
              </a:lnSpc>
            </a:pPr>
            <a:endParaRPr lang="pt-PT" sz="2800" dirty="0"/>
          </a:p>
          <a:p>
            <a:pPr>
              <a:lnSpc>
                <a:spcPct val="150000"/>
              </a:lnSpc>
            </a:pPr>
            <a:r>
              <a:rPr lang="pt-PT" sz="2800" b="1" dirty="0" err="1"/>
              <a:t>Outcomes</a:t>
            </a:r>
            <a:r>
              <a:rPr lang="pt-PT" sz="2800" b="1" dirty="0"/>
              <a:t> Secundários: </a:t>
            </a:r>
            <a:r>
              <a:rPr lang="pt-PT" sz="2800" dirty="0"/>
              <a:t>Adesão à intervenção digital e bem-estar geral medido pelo WHO-5 (</a:t>
            </a:r>
            <a:r>
              <a:rPr lang="pt-PT" sz="2800" dirty="0" err="1"/>
              <a:t>World</a:t>
            </a:r>
            <a:r>
              <a:rPr lang="pt-PT" sz="2800" dirty="0"/>
              <a:t> </a:t>
            </a:r>
            <a:r>
              <a:rPr lang="pt-PT" sz="2800" dirty="0" err="1"/>
              <a:t>Health</a:t>
            </a:r>
            <a:r>
              <a:rPr lang="pt-PT" sz="2800" dirty="0"/>
              <a:t> </a:t>
            </a:r>
            <a:r>
              <a:rPr lang="pt-PT" sz="2800" dirty="0" err="1"/>
              <a:t>Organization</a:t>
            </a:r>
            <a:r>
              <a:rPr lang="pt-PT" sz="2800" dirty="0"/>
              <a:t> </a:t>
            </a:r>
            <a:r>
              <a:rPr lang="pt-PT" sz="2800" dirty="0" err="1"/>
              <a:t>Well-Being</a:t>
            </a:r>
            <a:r>
              <a:rPr lang="pt-PT" sz="2800" dirty="0"/>
              <a:t> Index).</a:t>
            </a:r>
          </a:p>
          <a:p>
            <a:pPr>
              <a:lnSpc>
                <a:spcPct val="150000"/>
              </a:lnSpc>
            </a:pPr>
            <a:br>
              <a:rPr lang="pt-PT" sz="2800" dirty="0"/>
            </a:br>
            <a:r>
              <a:rPr lang="pt-PT" sz="2800" b="1" dirty="0"/>
              <a:t>Usabilidade: </a:t>
            </a:r>
            <a:r>
              <a:rPr lang="pt-PT" sz="2800" dirty="0"/>
              <a:t>Avaliação através do </a:t>
            </a:r>
            <a:r>
              <a:rPr lang="pt-PT" sz="2800" dirty="0" err="1"/>
              <a:t>System</a:t>
            </a:r>
            <a:r>
              <a:rPr lang="pt-PT" sz="2800" dirty="0"/>
              <a:t> </a:t>
            </a:r>
            <a:r>
              <a:rPr lang="pt-PT" sz="2800" dirty="0" err="1"/>
              <a:t>Usability</a:t>
            </a:r>
            <a:r>
              <a:rPr lang="pt-PT" sz="2800" dirty="0"/>
              <a:t> </a:t>
            </a:r>
            <a:r>
              <a:rPr lang="pt-PT" sz="2800" dirty="0" err="1"/>
              <a:t>Scale</a:t>
            </a:r>
            <a:r>
              <a:rPr lang="pt-PT" sz="2800" dirty="0"/>
              <a:t> (SUS) para medir a experiência do utilizador com a aplicação </a:t>
            </a:r>
            <a:r>
              <a:rPr lang="pt-PT" sz="2800" dirty="0" err="1"/>
              <a:t>MindMove</a:t>
            </a:r>
            <a:r>
              <a:rPr lang="pt-PT" sz="2800" dirty="0"/>
              <a:t>.</a:t>
            </a:r>
            <a:br>
              <a:rPr lang="pt-PT" sz="2800" dirty="0"/>
            </a:br>
            <a:br>
              <a:rPr lang="pt-PT" sz="2800" dirty="0"/>
            </a:br>
            <a:endParaRPr lang="en-US" sz="249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</p:txBody>
      </p:sp>
    </p:spTree>
    <p:extLst>
      <p:ext uri="{BB962C8B-B14F-4D97-AF65-F5344CB8AC3E}">
        <p14:creationId xmlns:p14="http://schemas.microsoft.com/office/powerpoint/2010/main" val="40176525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29901AF-3FD5-AE99-C56A-3618B3E51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98FA112E-8C0B-A4CC-EDAC-06EE502937EC}"/>
              </a:ext>
            </a:extLst>
          </p:cNvPr>
          <p:cNvGrpSpPr/>
          <p:nvPr/>
        </p:nvGrpSpPr>
        <p:grpSpPr>
          <a:xfrm rot="-10800000">
            <a:off x="-1434465" y="7936076"/>
            <a:ext cx="8279532" cy="9266871"/>
            <a:chOff x="0" y="0"/>
            <a:chExt cx="11039376" cy="12355828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5A093CA-F276-3A1A-34FE-3668F3A6F530}"/>
                </a:ext>
              </a:extLst>
            </p:cNvPr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2F9CCB97-9BC3-3AA5-3D5D-430577518E74}"/>
                </a:ext>
              </a:extLst>
            </p:cNvPr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9D8A01B2-A3FE-FA78-D2B7-272DDA9070E7}"/>
              </a:ext>
            </a:extLst>
          </p:cNvPr>
          <p:cNvGrpSpPr/>
          <p:nvPr/>
        </p:nvGrpSpPr>
        <p:grpSpPr>
          <a:xfrm>
            <a:off x="11246542" y="-6136759"/>
            <a:ext cx="8279532" cy="9266871"/>
            <a:chOff x="0" y="0"/>
            <a:chExt cx="11039376" cy="12355828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E0D94FBF-90C8-2D64-1AFF-0A275AF3FF68}"/>
                </a:ext>
              </a:extLst>
            </p:cNvPr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pt-PT"/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F8EEA087-482E-8C25-BD97-FB241B338C6C}"/>
                </a:ext>
              </a:extLst>
            </p:cNvPr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6996D2BC-4A66-257D-C12B-959ADFFD9103}"/>
              </a:ext>
            </a:extLst>
          </p:cNvPr>
          <p:cNvGrpSpPr/>
          <p:nvPr/>
        </p:nvGrpSpPr>
        <p:grpSpPr>
          <a:xfrm>
            <a:off x="1273638" y="693030"/>
            <a:ext cx="15740723" cy="8900940"/>
            <a:chOff x="0" y="0"/>
            <a:chExt cx="4145705" cy="2344280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CB55B418-D88E-F181-4639-3E67A937AACB}"/>
                </a:ext>
              </a:extLst>
            </p:cNvPr>
            <p:cNvSpPr/>
            <p:nvPr/>
          </p:nvSpPr>
          <p:spPr>
            <a:xfrm>
              <a:off x="0" y="0"/>
              <a:ext cx="4145705" cy="2344280"/>
            </a:xfrm>
            <a:custGeom>
              <a:avLst/>
              <a:gdLst/>
              <a:ahLst/>
              <a:cxnLst/>
              <a:rect l="l" t="t" r="r" b="b"/>
              <a:pathLst>
                <a:path w="4145705" h="2344280">
                  <a:moveTo>
                    <a:pt x="49184" y="0"/>
                  </a:moveTo>
                  <a:lnTo>
                    <a:pt x="4096521" y="0"/>
                  </a:lnTo>
                  <a:cubicBezTo>
                    <a:pt x="4109565" y="0"/>
                    <a:pt x="4122076" y="5182"/>
                    <a:pt x="4131299" y="14406"/>
                  </a:cubicBezTo>
                  <a:cubicBezTo>
                    <a:pt x="4140523" y="23629"/>
                    <a:pt x="4145705" y="36140"/>
                    <a:pt x="4145705" y="49184"/>
                  </a:cubicBezTo>
                  <a:lnTo>
                    <a:pt x="4145705" y="2295096"/>
                  </a:lnTo>
                  <a:cubicBezTo>
                    <a:pt x="4145705" y="2308141"/>
                    <a:pt x="4140523" y="2320651"/>
                    <a:pt x="4131299" y="2329875"/>
                  </a:cubicBezTo>
                  <a:cubicBezTo>
                    <a:pt x="4122076" y="2339099"/>
                    <a:pt x="4109565" y="2344280"/>
                    <a:pt x="4096521" y="2344280"/>
                  </a:cubicBezTo>
                  <a:lnTo>
                    <a:pt x="49184" y="2344280"/>
                  </a:lnTo>
                  <a:cubicBezTo>
                    <a:pt x="22020" y="2344280"/>
                    <a:pt x="0" y="2322260"/>
                    <a:pt x="0" y="2295096"/>
                  </a:cubicBezTo>
                  <a:lnTo>
                    <a:pt x="0" y="49184"/>
                  </a:lnTo>
                  <a:cubicBezTo>
                    <a:pt x="0" y="36140"/>
                    <a:pt x="5182" y="23629"/>
                    <a:pt x="14406" y="14406"/>
                  </a:cubicBezTo>
                  <a:cubicBezTo>
                    <a:pt x="23629" y="5182"/>
                    <a:pt x="36140" y="0"/>
                    <a:pt x="49184" y="0"/>
                  </a:cubicBezTo>
                  <a:close/>
                </a:path>
              </a:pathLst>
            </a:custGeom>
            <a:solidFill>
              <a:srgbClr val="BFDBF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FD7729C4-9DA5-382F-0D1D-CB9F3FF9B86D}"/>
                </a:ext>
              </a:extLst>
            </p:cNvPr>
            <p:cNvSpPr txBox="1"/>
            <p:nvPr/>
          </p:nvSpPr>
          <p:spPr>
            <a:xfrm>
              <a:off x="0" y="-47625"/>
              <a:ext cx="4145705" cy="239190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EFEB5578-3F3A-A610-E906-508F054604BE}"/>
              </a:ext>
            </a:extLst>
          </p:cNvPr>
          <p:cNvGrpSpPr/>
          <p:nvPr/>
        </p:nvGrpSpPr>
        <p:grpSpPr>
          <a:xfrm>
            <a:off x="1518575" y="1099664"/>
            <a:ext cx="15250847" cy="8229600"/>
            <a:chOff x="0" y="0"/>
            <a:chExt cx="4016684" cy="2167467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E39867AD-2BBC-C027-57A5-14CD66662134}"/>
                </a:ext>
              </a:extLst>
            </p:cNvPr>
            <p:cNvSpPr/>
            <p:nvPr/>
          </p:nvSpPr>
          <p:spPr>
            <a:xfrm>
              <a:off x="0" y="0"/>
              <a:ext cx="4016684" cy="2167467"/>
            </a:xfrm>
            <a:custGeom>
              <a:avLst/>
              <a:gdLst/>
              <a:ahLst/>
              <a:cxnLst/>
              <a:rect l="l" t="t" r="r" b="b"/>
              <a:pathLst>
                <a:path w="4016684" h="2167467">
                  <a:moveTo>
                    <a:pt x="50764" y="0"/>
                  </a:moveTo>
                  <a:lnTo>
                    <a:pt x="3965920" y="0"/>
                  </a:lnTo>
                  <a:cubicBezTo>
                    <a:pt x="3993956" y="0"/>
                    <a:pt x="4016684" y="22728"/>
                    <a:pt x="4016684" y="50764"/>
                  </a:cubicBezTo>
                  <a:lnTo>
                    <a:pt x="4016684" y="2116703"/>
                  </a:lnTo>
                  <a:cubicBezTo>
                    <a:pt x="4016684" y="2144739"/>
                    <a:pt x="3993956" y="2167467"/>
                    <a:pt x="3965920" y="2167467"/>
                  </a:cubicBezTo>
                  <a:lnTo>
                    <a:pt x="50764" y="2167467"/>
                  </a:lnTo>
                  <a:cubicBezTo>
                    <a:pt x="37300" y="2167467"/>
                    <a:pt x="24388" y="2162118"/>
                    <a:pt x="14868" y="2152598"/>
                  </a:cubicBezTo>
                  <a:cubicBezTo>
                    <a:pt x="5348" y="2143078"/>
                    <a:pt x="0" y="2130166"/>
                    <a:pt x="0" y="2116703"/>
                  </a:cubicBezTo>
                  <a:lnTo>
                    <a:pt x="0" y="50764"/>
                  </a:lnTo>
                  <a:cubicBezTo>
                    <a:pt x="0" y="22728"/>
                    <a:pt x="22728" y="0"/>
                    <a:pt x="50764" y="0"/>
                  </a:cubicBezTo>
                  <a:close/>
                </a:path>
              </a:pathLst>
            </a:custGeom>
            <a:solidFill>
              <a:srgbClr val="FFFFFE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3AB4E9FB-D086-81BD-ACD3-F6437FCA9053}"/>
                </a:ext>
              </a:extLst>
            </p:cNvPr>
            <p:cNvSpPr txBox="1"/>
            <p:nvPr/>
          </p:nvSpPr>
          <p:spPr>
            <a:xfrm>
              <a:off x="0" y="-47625"/>
              <a:ext cx="4016684" cy="22150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>
            <a:extLst>
              <a:ext uri="{FF2B5EF4-FFF2-40B4-BE49-F238E27FC236}">
                <a16:creationId xmlns:a16="http://schemas.microsoft.com/office/drawing/2014/main" id="{6A4CE654-EDDB-8824-C9C5-E50047542B8F}"/>
              </a:ext>
            </a:extLst>
          </p:cNvPr>
          <p:cNvSpPr txBox="1"/>
          <p:nvPr/>
        </p:nvSpPr>
        <p:spPr>
          <a:xfrm>
            <a:off x="2257221" y="1792197"/>
            <a:ext cx="13773557" cy="11169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8398"/>
              </a:lnSpc>
            </a:pPr>
            <a:r>
              <a:rPr lang="en-US" sz="912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Análise</a:t>
            </a:r>
            <a:r>
              <a:rPr lang="en-US" sz="912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912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Estatística</a:t>
            </a:r>
            <a:endParaRPr lang="en-US" sz="912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051B9642-EF55-6345-FE28-44B5ABBE63D8}"/>
              </a:ext>
            </a:extLst>
          </p:cNvPr>
          <p:cNvSpPr txBox="1"/>
          <p:nvPr/>
        </p:nvSpPr>
        <p:spPr>
          <a:xfrm>
            <a:off x="2242425" y="3198422"/>
            <a:ext cx="13773557" cy="63342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pt-PT" sz="2800" b="1" dirty="0" err="1"/>
              <a:t>Outcome</a:t>
            </a:r>
            <a:r>
              <a:rPr lang="pt-PT" sz="2800" b="1" dirty="0"/>
              <a:t> Primário: </a:t>
            </a:r>
            <a:r>
              <a:rPr lang="pt-PT" sz="2800" dirty="0"/>
              <a:t>Variação no score PHQ-9 (</a:t>
            </a:r>
            <a:r>
              <a:rPr lang="pt-PT" sz="2800" dirty="0" err="1"/>
              <a:t>Patient</a:t>
            </a:r>
            <a:r>
              <a:rPr lang="pt-PT" sz="2800" dirty="0"/>
              <a:t> </a:t>
            </a:r>
            <a:r>
              <a:rPr lang="pt-PT" sz="2800" dirty="0" err="1"/>
              <a:t>Health</a:t>
            </a:r>
            <a:r>
              <a:rPr lang="pt-PT" sz="2800" dirty="0"/>
              <a:t> Questionnaire-9) para avaliação da redução de sintomas depressivos.</a:t>
            </a:r>
          </a:p>
          <a:p>
            <a:pPr>
              <a:lnSpc>
                <a:spcPct val="150000"/>
              </a:lnSpc>
            </a:pPr>
            <a:endParaRPr lang="pt-PT" sz="2800" dirty="0"/>
          </a:p>
          <a:p>
            <a:pPr>
              <a:lnSpc>
                <a:spcPct val="150000"/>
              </a:lnSpc>
            </a:pPr>
            <a:r>
              <a:rPr lang="pt-PT" sz="2800" b="1" dirty="0" err="1"/>
              <a:t>Outcomes</a:t>
            </a:r>
            <a:r>
              <a:rPr lang="pt-PT" sz="2800" b="1" dirty="0"/>
              <a:t> Secundários: </a:t>
            </a:r>
            <a:r>
              <a:rPr lang="pt-PT" sz="2800" dirty="0"/>
              <a:t>Adesão à intervenção digital e bem-estar geral medido pelo WHO-5 (</a:t>
            </a:r>
            <a:r>
              <a:rPr lang="pt-PT" sz="2800" dirty="0" err="1"/>
              <a:t>World</a:t>
            </a:r>
            <a:r>
              <a:rPr lang="pt-PT" sz="2800" dirty="0"/>
              <a:t> </a:t>
            </a:r>
            <a:r>
              <a:rPr lang="pt-PT" sz="2800" dirty="0" err="1"/>
              <a:t>Health</a:t>
            </a:r>
            <a:r>
              <a:rPr lang="pt-PT" sz="2800" dirty="0"/>
              <a:t> </a:t>
            </a:r>
            <a:r>
              <a:rPr lang="pt-PT" sz="2800" dirty="0" err="1"/>
              <a:t>Organization</a:t>
            </a:r>
            <a:r>
              <a:rPr lang="pt-PT" sz="2800" dirty="0"/>
              <a:t> </a:t>
            </a:r>
            <a:r>
              <a:rPr lang="pt-PT" sz="2800" dirty="0" err="1"/>
              <a:t>Well-Being</a:t>
            </a:r>
            <a:r>
              <a:rPr lang="pt-PT" sz="2800" dirty="0"/>
              <a:t> Index).</a:t>
            </a:r>
          </a:p>
          <a:p>
            <a:pPr>
              <a:lnSpc>
                <a:spcPct val="150000"/>
              </a:lnSpc>
            </a:pPr>
            <a:br>
              <a:rPr lang="pt-PT" sz="2800" dirty="0"/>
            </a:br>
            <a:r>
              <a:rPr lang="pt-PT" sz="2800" b="1" dirty="0"/>
              <a:t>Usabilidade: </a:t>
            </a:r>
            <a:r>
              <a:rPr lang="pt-PT" sz="2800" dirty="0"/>
              <a:t>Avaliação através do </a:t>
            </a:r>
            <a:r>
              <a:rPr lang="pt-PT" sz="2800" dirty="0" err="1"/>
              <a:t>System</a:t>
            </a:r>
            <a:r>
              <a:rPr lang="pt-PT" sz="2800" dirty="0"/>
              <a:t> </a:t>
            </a:r>
            <a:r>
              <a:rPr lang="pt-PT" sz="2800" dirty="0" err="1"/>
              <a:t>Usability</a:t>
            </a:r>
            <a:r>
              <a:rPr lang="pt-PT" sz="2800" dirty="0"/>
              <a:t> </a:t>
            </a:r>
            <a:r>
              <a:rPr lang="pt-PT" sz="2800" dirty="0" err="1"/>
              <a:t>Scale</a:t>
            </a:r>
            <a:r>
              <a:rPr lang="pt-PT" sz="2800" dirty="0"/>
              <a:t> (SUS) para medir a experiência do utilizador com a aplicação </a:t>
            </a:r>
            <a:r>
              <a:rPr lang="pt-PT" sz="2800" dirty="0" err="1"/>
              <a:t>MindMove</a:t>
            </a:r>
            <a:r>
              <a:rPr lang="pt-PT" sz="2800" dirty="0"/>
              <a:t>.</a:t>
            </a:r>
            <a:br>
              <a:rPr lang="pt-PT" sz="2800" dirty="0"/>
            </a:br>
            <a:br>
              <a:rPr lang="pt-PT" sz="2800" dirty="0"/>
            </a:br>
            <a:endParaRPr lang="en-US" sz="249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</p:txBody>
      </p:sp>
    </p:spTree>
    <p:extLst>
      <p:ext uri="{BB962C8B-B14F-4D97-AF65-F5344CB8AC3E}">
        <p14:creationId xmlns:p14="http://schemas.microsoft.com/office/powerpoint/2010/main" val="1979403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F37C8D2-28F4-FB82-8DCE-DA5C9C8059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0BA3E4B9-7221-3689-7E99-3CF5084DDF10}"/>
              </a:ext>
            </a:extLst>
          </p:cNvPr>
          <p:cNvGrpSpPr/>
          <p:nvPr/>
        </p:nvGrpSpPr>
        <p:grpSpPr>
          <a:xfrm rot="-10800000">
            <a:off x="-1434465" y="7936076"/>
            <a:ext cx="8279532" cy="9266871"/>
            <a:chOff x="0" y="0"/>
            <a:chExt cx="11039376" cy="12355828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D7D1C98-75F1-7FAA-05F2-D54A70D76455}"/>
                </a:ext>
              </a:extLst>
            </p:cNvPr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5EDB898-A782-710B-63DF-0BB33A8C5371}"/>
                </a:ext>
              </a:extLst>
            </p:cNvPr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965E5467-DE4F-E481-2B17-A5B532867022}"/>
              </a:ext>
            </a:extLst>
          </p:cNvPr>
          <p:cNvGrpSpPr/>
          <p:nvPr/>
        </p:nvGrpSpPr>
        <p:grpSpPr>
          <a:xfrm>
            <a:off x="11246542" y="-6136759"/>
            <a:ext cx="8279532" cy="9266871"/>
            <a:chOff x="0" y="0"/>
            <a:chExt cx="11039376" cy="12355828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D333C350-7CF5-8085-6C86-A66BFD77ECA4}"/>
                </a:ext>
              </a:extLst>
            </p:cNvPr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pt-PT"/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5F2E1B97-25D9-DE17-F480-F3A93157D559}"/>
                </a:ext>
              </a:extLst>
            </p:cNvPr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1CB5BD7D-AB3B-B4CD-0DDB-41B18532E234}"/>
              </a:ext>
            </a:extLst>
          </p:cNvPr>
          <p:cNvGrpSpPr/>
          <p:nvPr/>
        </p:nvGrpSpPr>
        <p:grpSpPr>
          <a:xfrm>
            <a:off x="1273638" y="693030"/>
            <a:ext cx="15740723" cy="8900940"/>
            <a:chOff x="0" y="0"/>
            <a:chExt cx="4145705" cy="2344280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08D37F49-8117-B1A1-D3FB-88AC98D4F34D}"/>
                </a:ext>
              </a:extLst>
            </p:cNvPr>
            <p:cNvSpPr/>
            <p:nvPr/>
          </p:nvSpPr>
          <p:spPr>
            <a:xfrm>
              <a:off x="0" y="0"/>
              <a:ext cx="4145705" cy="2344280"/>
            </a:xfrm>
            <a:custGeom>
              <a:avLst/>
              <a:gdLst/>
              <a:ahLst/>
              <a:cxnLst/>
              <a:rect l="l" t="t" r="r" b="b"/>
              <a:pathLst>
                <a:path w="4145705" h="2344280">
                  <a:moveTo>
                    <a:pt x="49184" y="0"/>
                  </a:moveTo>
                  <a:lnTo>
                    <a:pt x="4096521" y="0"/>
                  </a:lnTo>
                  <a:cubicBezTo>
                    <a:pt x="4109565" y="0"/>
                    <a:pt x="4122076" y="5182"/>
                    <a:pt x="4131299" y="14406"/>
                  </a:cubicBezTo>
                  <a:cubicBezTo>
                    <a:pt x="4140523" y="23629"/>
                    <a:pt x="4145705" y="36140"/>
                    <a:pt x="4145705" y="49184"/>
                  </a:cubicBezTo>
                  <a:lnTo>
                    <a:pt x="4145705" y="2295096"/>
                  </a:lnTo>
                  <a:cubicBezTo>
                    <a:pt x="4145705" y="2308141"/>
                    <a:pt x="4140523" y="2320651"/>
                    <a:pt x="4131299" y="2329875"/>
                  </a:cubicBezTo>
                  <a:cubicBezTo>
                    <a:pt x="4122076" y="2339099"/>
                    <a:pt x="4109565" y="2344280"/>
                    <a:pt x="4096521" y="2344280"/>
                  </a:cubicBezTo>
                  <a:lnTo>
                    <a:pt x="49184" y="2344280"/>
                  </a:lnTo>
                  <a:cubicBezTo>
                    <a:pt x="22020" y="2344280"/>
                    <a:pt x="0" y="2322260"/>
                    <a:pt x="0" y="2295096"/>
                  </a:cubicBezTo>
                  <a:lnTo>
                    <a:pt x="0" y="49184"/>
                  </a:lnTo>
                  <a:cubicBezTo>
                    <a:pt x="0" y="36140"/>
                    <a:pt x="5182" y="23629"/>
                    <a:pt x="14406" y="14406"/>
                  </a:cubicBezTo>
                  <a:cubicBezTo>
                    <a:pt x="23629" y="5182"/>
                    <a:pt x="36140" y="0"/>
                    <a:pt x="49184" y="0"/>
                  </a:cubicBezTo>
                  <a:close/>
                </a:path>
              </a:pathLst>
            </a:custGeom>
            <a:solidFill>
              <a:srgbClr val="BFDBF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726B78C4-78C1-69C8-0FF7-987CCA9E4800}"/>
                </a:ext>
              </a:extLst>
            </p:cNvPr>
            <p:cNvSpPr txBox="1"/>
            <p:nvPr/>
          </p:nvSpPr>
          <p:spPr>
            <a:xfrm>
              <a:off x="0" y="-47625"/>
              <a:ext cx="4145705" cy="239190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F0A6F672-8711-E631-2051-BAA16BB1E997}"/>
              </a:ext>
            </a:extLst>
          </p:cNvPr>
          <p:cNvGrpSpPr/>
          <p:nvPr/>
        </p:nvGrpSpPr>
        <p:grpSpPr>
          <a:xfrm>
            <a:off x="1518575" y="1099664"/>
            <a:ext cx="15250847" cy="8229600"/>
            <a:chOff x="0" y="0"/>
            <a:chExt cx="4016684" cy="2167467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459D72C5-6002-2349-87A7-4128AEEFAF73}"/>
                </a:ext>
              </a:extLst>
            </p:cNvPr>
            <p:cNvSpPr/>
            <p:nvPr/>
          </p:nvSpPr>
          <p:spPr>
            <a:xfrm>
              <a:off x="0" y="0"/>
              <a:ext cx="4016684" cy="2167467"/>
            </a:xfrm>
            <a:custGeom>
              <a:avLst/>
              <a:gdLst/>
              <a:ahLst/>
              <a:cxnLst/>
              <a:rect l="l" t="t" r="r" b="b"/>
              <a:pathLst>
                <a:path w="4016684" h="2167467">
                  <a:moveTo>
                    <a:pt x="50764" y="0"/>
                  </a:moveTo>
                  <a:lnTo>
                    <a:pt x="3965920" y="0"/>
                  </a:lnTo>
                  <a:cubicBezTo>
                    <a:pt x="3993956" y="0"/>
                    <a:pt x="4016684" y="22728"/>
                    <a:pt x="4016684" y="50764"/>
                  </a:cubicBezTo>
                  <a:lnTo>
                    <a:pt x="4016684" y="2116703"/>
                  </a:lnTo>
                  <a:cubicBezTo>
                    <a:pt x="4016684" y="2144739"/>
                    <a:pt x="3993956" y="2167467"/>
                    <a:pt x="3965920" y="2167467"/>
                  </a:cubicBezTo>
                  <a:lnTo>
                    <a:pt x="50764" y="2167467"/>
                  </a:lnTo>
                  <a:cubicBezTo>
                    <a:pt x="37300" y="2167467"/>
                    <a:pt x="24388" y="2162118"/>
                    <a:pt x="14868" y="2152598"/>
                  </a:cubicBezTo>
                  <a:cubicBezTo>
                    <a:pt x="5348" y="2143078"/>
                    <a:pt x="0" y="2130166"/>
                    <a:pt x="0" y="2116703"/>
                  </a:cubicBezTo>
                  <a:lnTo>
                    <a:pt x="0" y="50764"/>
                  </a:lnTo>
                  <a:cubicBezTo>
                    <a:pt x="0" y="22728"/>
                    <a:pt x="22728" y="0"/>
                    <a:pt x="50764" y="0"/>
                  </a:cubicBezTo>
                  <a:close/>
                </a:path>
              </a:pathLst>
            </a:custGeom>
            <a:solidFill>
              <a:srgbClr val="FFFFFE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 dirty="0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7DA019CF-0C28-6927-D858-DB394B15D0D8}"/>
                </a:ext>
              </a:extLst>
            </p:cNvPr>
            <p:cNvSpPr txBox="1"/>
            <p:nvPr/>
          </p:nvSpPr>
          <p:spPr>
            <a:xfrm>
              <a:off x="0" y="-47625"/>
              <a:ext cx="4016684" cy="22150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>
            <a:extLst>
              <a:ext uri="{FF2B5EF4-FFF2-40B4-BE49-F238E27FC236}">
                <a16:creationId xmlns:a16="http://schemas.microsoft.com/office/drawing/2014/main" id="{E7135E30-811A-A86B-899B-705C18AD03B8}"/>
              </a:ext>
            </a:extLst>
          </p:cNvPr>
          <p:cNvSpPr txBox="1"/>
          <p:nvPr/>
        </p:nvSpPr>
        <p:spPr>
          <a:xfrm>
            <a:off x="2281335" y="2789450"/>
            <a:ext cx="13773557" cy="11329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 algn="ctr">
              <a:lnSpc>
                <a:spcPts val="8398"/>
              </a:lnSpc>
            </a:pPr>
            <a:r>
              <a:rPr lang="pt-PT" sz="9600" dirty="0"/>
              <a:t>Ética e proteção de dados</a:t>
            </a:r>
            <a:endParaRPr lang="en-US" sz="912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B691930A-ABD0-0806-5F73-DD80B3B9A2C6}"/>
              </a:ext>
            </a:extLst>
          </p:cNvPr>
          <p:cNvSpPr txBox="1"/>
          <p:nvPr/>
        </p:nvSpPr>
        <p:spPr>
          <a:xfrm>
            <a:off x="2255741" y="4479114"/>
            <a:ext cx="13773557" cy="31648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pt-PT" sz="2800" u="sng" dirty="0"/>
              <a:t>Garantida através de: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PT" sz="2800" dirty="0"/>
              <a:t>Aprovação ética pela Comissão de Ética da FMUP. 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PT" sz="2800" dirty="0"/>
              <a:t>Consentimento informado digital obtido via </a:t>
            </a:r>
            <a:r>
              <a:rPr lang="pt-PT" sz="2800" dirty="0" err="1"/>
              <a:t>landing</a:t>
            </a:r>
            <a:r>
              <a:rPr lang="pt-PT" sz="2800" dirty="0"/>
              <a:t> </a:t>
            </a:r>
            <a:r>
              <a:rPr lang="pt-PT" sz="2800" dirty="0" err="1"/>
              <a:t>page</a:t>
            </a:r>
            <a:r>
              <a:rPr lang="pt-PT" sz="2800" dirty="0"/>
              <a:t> antes da participação no estudo.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PT" sz="2800" dirty="0"/>
              <a:t>Proteção de dados em conformidade com o RGPD. 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PT" sz="2800" dirty="0"/>
              <a:t>Dados anonimizados e armazenados em servidores seguros com encriptação </a:t>
            </a:r>
            <a:r>
              <a:rPr lang="pt-PT" sz="2800" dirty="0" err="1"/>
              <a:t>end</a:t>
            </a:r>
            <a:r>
              <a:rPr lang="pt-PT" sz="2800" dirty="0"/>
              <a:t>-to-</a:t>
            </a:r>
            <a:r>
              <a:rPr lang="pt-PT" sz="2800" dirty="0" err="1"/>
              <a:t>end</a:t>
            </a:r>
            <a:r>
              <a:rPr lang="pt-PT" sz="28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990995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1114938" y="-6754570"/>
            <a:ext cx="8279532" cy="9266871"/>
            <a:chOff x="0" y="0"/>
            <a:chExt cx="11039376" cy="12355828"/>
          </a:xfrm>
        </p:grpSpPr>
        <p:sp>
          <p:nvSpPr>
            <p:cNvPr id="3" name="Freeform 3"/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pt-PT"/>
            </a:p>
          </p:txBody>
        </p:sp>
        <p:sp>
          <p:nvSpPr>
            <p:cNvPr id="4" name="Freeform 4"/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5" name="Group 5"/>
          <p:cNvGrpSpPr/>
          <p:nvPr/>
        </p:nvGrpSpPr>
        <p:grpSpPr>
          <a:xfrm rot="-10800000">
            <a:off x="-1434465" y="7936076"/>
            <a:ext cx="8279532" cy="9266871"/>
            <a:chOff x="0" y="0"/>
            <a:chExt cx="11039376" cy="12355828"/>
          </a:xfrm>
        </p:grpSpPr>
        <p:sp>
          <p:nvSpPr>
            <p:cNvPr id="6" name="Freeform 6"/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pt-PT"/>
            </a:p>
          </p:txBody>
        </p:sp>
        <p:sp>
          <p:nvSpPr>
            <p:cNvPr id="7" name="Freeform 7"/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pt-PT"/>
            </a:p>
          </p:txBody>
        </p:sp>
      </p:grpSp>
      <p:sp>
        <p:nvSpPr>
          <p:cNvPr id="8" name="Freeform 8"/>
          <p:cNvSpPr/>
          <p:nvPr/>
        </p:nvSpPr>
        <p:spPr>
          <a:xfrm rot="-10800000">
            <a:off x="15965137" y="8412436"/>
            <a:ext cx="4645726" cy="4645726"/>
          </a:xfrm>
          <a:custGeom>
            <a:avLst/>
            <a:gdLst/>
            <a:ahLst/>
            <a:cxnLst/>
            <a:rect l="l" t="t" r="r" b="b"/>
            <a:pathLst>
              <a:path w="4645726" h="4645726">
                <a:moveTo>
                  <a:pt x="0" y="0"/>
                </a:moveTo>
                <a:lnTo>
                  <a:pt x="4645726" y="0"/>
                </a:lnTo>
                <a:lnTo>
                  <a:pt x="4645726" y="4645726"/>
                </a:lnTo>
                <a:lnTo>
                  <a:pt x="0" y="464572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9" name="Freeform 9"/>
          <p:cNvSpPr/>
          <p:nvPr/>
        </p:nvSpPr>
        <p:spPr>
          <a:xfrm rot="-10800000">
            <a:off x="-2281014" y="-2716014"/>
            <a:ext cx="4645726" cy="4645726"/>
          </a:xfrm>
          <a:custGeom>
            <a:avLst/>
            <a:gdLst/>
            <a:ahLst/>
            <a:cxnLst/>
            <a:rect l="l" t="t" r="r" b="b"/>
            <a:pathLst>
              <a:path w="4645726" h="4645726">
                <a:moveTo>
                  <a:pt x="0" y="0"/>
                </a:moveTo>
                <a:lnTo>
                  <a:pt x="4645726" y="0"/>
                </a:lnTo>
                <a:lnTo>
                  <a:pt x="4645726" y="4645726"/>
                </a:lnTo>
                <a:lnTo>
                  <a:pt x="0" y="464572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10" name="TextBox 10"/>
          <p:cNvSpPr txBox="1"/>
          <p:nvPr/>
        </p:nvSpPr>
        <p:spPr>
          <a:xfrm>
            <a:off x="4263643" y="5887740"/>
            <a:ext cx="9760714" cy="8137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600"/>
              </a:lnSpc>
            </a:pPr>
            <a:r>
              <a:rPr lang="en-US" sz="4714">
                <a:solidFill>
                  <a:srgbClr val="1E344C"/>
                </a:solidFill>
                <a:latin typeface="Stinger Fit"/>
                <a:ea typeface="Stinger Fit"/>
                <a:cs typeface="Stinger Fit"/>
                <a:sym typeface="Stinger Fit"/>
              </a:rPr>
              <a:t>Equipa de Investigação MinMove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364712" y="3223376"/>
            <a:ext cx="13558576" cy="14407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0972"/>
              </a:lnSpc>
            </a:pPr>
            <a:r>
              <a:rPr lang="en-US" sz="10160">
                <a:solidFill>
                  <a:srgbClr val="1E344C"/>
                </a:solidFill>
                <a:latin typeface="Stinger Fit"/>
                <a:ea typeface="Stinger Fit"/>
                <a:cs typeface="Stinger Fit"/>
                <a:sym typeface="Stinger Fit"/>
              </a:rPr>
              <a:t>Obrigado pela Atenção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705</Words>
  <Application>Microsoft Office PowerPoint</Application>
  <PresentationFormat>Personalizados</PresentationFormat>
  <Paragraphs>64</Paragraphs>
  <Slides>11</Slides>
  <Notes>0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11</vt:i4>
      </vt:variant>
    </vt:vector>
  </HeadingPairs>
  <TitlesOfParts>
    <vt:vector size="17" baseType="lpstr">
      <vt:lpstr>Calibri</vt:lpstr>
      <vt:lpstr>Calibri (MS) Bold</vt:lpstr>
      <vt:lpstr>Arial</vt:lpstr>
      <vt:lpstr>Calibri (MS)</vt:lpstr>
      <vt:lpstr>Stinger Fit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MindMove</dc:title>
  <cp:lastModifiedBy>Gabriela Carneiro</cp:lastModifiedBy>
  <cp:revision>1</cp:revision>
  <dcterms:created xsi:type="dcterms:W3CDTF">2006-08-16T00:00:00Z</dcterms:created>
  <dcterms:modified xsi:type="dcterms:W3CDTF">2026-04-30T12:42:38Z</dcterms:modified>
  <dc:identifier>DAHIQMFlzDU</dc:identifier>
</cp:coreProperties>
</file>