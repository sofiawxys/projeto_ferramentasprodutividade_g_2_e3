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embeddedFontLst>
    <p:embeddedFont>
      <p:font typeface="Calibri (MS)" panose="020B0604020202020204" charset="0"/>
      <p:regular r:id="rId10"/>
    </p:embeddedFont>
    <p:embeddedFont>
      <p:font typeface="Calibri (MS) Bold" panose="020B0604020202020204" charset="0"/>
      <p:regular r:id="rId11"/>
    </p:embeddedFont>
    <p:embeddedFont>
      <p:font typeface="Stinger Fit" panose="020B060402020202020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4" d="100"/>
          <a:sy n="54" d="100"/>
        </p:scale>
        <p:origin x="498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 flipV="1">
            <a:off x="15721081" y="-2654213"/>
            <a:ext cx="6942365" cy="8264720"/>
          </a:xfrm>
          <a:custGeom>
            <a:avLst/>
            <a:gdLst/>
            <a:ahLst/>
            <a:cxnLst/>
            <a:rect l="l" t="t" r="r" b="b"/>
            <a:pathLst>
              <a:path w="6942365" h="8264720">
                <a:moveTo>
                  <a:pt x="6942365" y="8264720"/>
                </a:moveTo>
                <a:lnTo>
                  <a:pt x="0" y="8264720"/>
                </a:lnTo>
                <a:lnTo>
                  <a:pt x="0" y="0"/>
                </a:lnTo>
                <a:lnTo>
                  <a:pt x="6942365" y="0"/>
                </a:lnTo>
                <a:lnTo>
                  <a:pt x="6942365" y="826472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5721081" y="-6008814"/>
            <a:ext cx="7783270" cy="7783270"/>
          </a:xfrm>
          <a:custGeom>
            <a:avLst/>
            <a:gdLst/>
            <a:ahLst/>
            <a:cxnLst/>
            <a:rect l="l" t="t" r="r" b="b"/>
            <a:pathLst>
              <a:path w="7783270" h="7783270">
                <a:moveTo>
                  <a:pt x="0" y="0"/>
                </a:moveTo>
                <a:lnTo>
                  <a:pt x="7783270" y="0"/>
                </a:lnTo>
                <a:lnTo>
                  <a:pt x="7783270" y="7783271"/>
                </a:lnTo>
                <a:lnTo>
                  <a:pt x="0" y="778327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10800000" flipH="1" flipV="1">
            <a:off x="-5913665" y="993580"/>
            <a:ext cx="6942365" cy="8264720"/>
          </a:xfrm>
          <a:custGeom>
            <a:avLst/>
            <a:gdLst/>
            <a:ahLst/>
            <a:cxnLst/>
            <a:rect l="l" t="t" r="r" b="b"/>
            <a:pathLst>
              <a:path w="6942365" h="8264720">
                <a:moveTo>
                  <a:pt x="6942365" y="8264720"/>
                </a:moveTo>
                <a:lnTo>
                  <a:pt x="0" y="8264720"/>
                </a:lnTo>
                <a:lnTo>
                  <a:pt x="0" y="0"/>
                </a:lnTo>
                <a:lnTo>
                  <a:pt x="6942365" y="0"/>
                </a:lnTo>
                <a:lnTo>
                  <a:pt x="6942365" y="826472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-10800000">
            <a:off x="-7029269" y="4450841"/>
            <a:ext cx="7783270" cy="7783270"/>
          </a:xfrm>
          <a:custGeom>
            <a:avLst/>
            <a:gdLst/>
            <a:ahLst/>
            <a:cxnLst/>
            <a:rect l="l" t="t" r="r" b="b"/>
            <a:pathLst>
              <a:path w="7783270" h="7783270">
                <a:moveTo>
                  <a:pt x="0" y="0"/>
                </a:moveTo>
                <a:lnTo>
                  <a:pt x="7783270" y="0"/>
                </a:lnTo>
                <a:lnTo>
                  <a:pt x="7783270" y="7783270"/>
                </a:lnTo>
                <a:lnTo>
                  <a:pt x="0" y="77832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10800000">
            <a:off x="16869401" y="7341837"/>
            <a:ext cx="4645726" cy="4645726"/>
          </a:xfrm>
          <a:custGeom>
            <a:avLst/>
            <a:gdLst/>
            <a:ahLst/>
            <a:cxnLst/>
            <a:rect l="l" t="t" r="r" b="b"/>
            <a:pathLst>
              <a:path w="4645726" h="4645726">
                <a:moveTo>
                  <a:pt x="0" y="0"/>
                </a:moveTo>
                <a:lnTo>
                  <a:pt x="4645726" y="0"/>
                </a:lnTo>
                <a:lnTo>
                  <a:pt x="4645726" y="4645726"/>
                </a:lnTo>
                <a:lnTo>
                  <a:pt x="0" y="4645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10800000">
            <a:off x="-2281014" y="-2716014"/>
            <a:ext cx="4645726" cy="4645726"/>
          </a:xfrm>
          <a:custGeom>
            <a:avLst/>
            <a:gdLst/>
            <a:ahLst/>
            <a:cxnLst/>
            <a:rect l="l" t="t" r="r" b="b"/>
            <a:pathLst>
              <a:path w="4645726" h="4645726">
                <a:moveTo>
                  <a:pt x="0" y="0"/>
                </a:moveTo>
                <a:lnTo>
                  <a:pt x="4645726" y="0"/>
                </a:lnTo>
                <a:lnTo>
                  <a:pt x="4645726" y="4645726"/>
                </a:lnTo>
                <a:lnTo>
                  <a:pt x="0" y="4645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754001" y="599379"/>
            <a:ext cx="4398861" cy="1757536"/>
          </a:xfrm>
          <a:custGeom>
            <a:avLst/>
            <a:gdLst/>
            <a:ahLst/>
            <a:cxnLst/>
            <a:rect l="l" t="t" r="r" b="b"/>
            <a:pathLst>
              <a:path w="4398861" h="1757536">
                <a:moveTo>
                  <a:pt x="0" y="0"/>
                </a:moveTo>
                <a:lnTo>
                  <a:pt x="4398861" y="0"/>
                </a:lnTo>
                <a:lnTo>
                  <a:pt x="4398861" y="1757536"/>
                </a:lnTo>
                <a:lnTo>
                  <a:pt x="0" y="17575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1028700" y="2949870"/>
            <a:ext cx="16230600" cy="3474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640"/>
              </a:lnSpc>
            </a:pPr>
            <a:r>
              <a:rPr lang="en-US" sz="8000" b="1">
                <a:solidFill>
                  <a:srgbClr val="2B7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Eficácia da Intervenção Digital MindMove na Saúde Mental de Universitários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2621578" y="599379"/>
            <a:ext cx="4769990" cy="1120118"/>
            <a:chOff x="0" y="0"/>
            <a:chExt cx="1256294" cy="29501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256294" cy="295011"/>
            </a:xfrm>
            <a:custGeom>
              <a:avLst/>
              <a:gdLst/>
              <a:ahLst/>
              <a:cxnLst/>
              <a:rect l="l" t="t" r="r" b="b"/>
              <a:pathLst>
                <a:path w="1256294" h="295011">
                  <a:moveTo>
                    <a:pt x="0" y="0"/>
                  </a:moveTo>
                  <a:lnTo>
                    <a:pt x="1256294" y="0"/>
                  </a:lnTo>
                  <a:lnTo>
                    <a:pt x="1256294" y="295011"/>
                  </a:lnTo>
                  <a:lnTo>
                    <a:pt x="0" y="295011"/>
                  </a:lnTo>
                  <a:close/>
                </a:path>
              </a:pathLst>
            </a:custGeom>
            <a:solidFill>
              <a:srgbClr val="FFFFFE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1256294" cy="342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3281427" y="6414510"/>
            <a:ext cx="11725146" cy="673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900"/>
              </a:lnSpc>
            </a:pPr>
            <a:r>
              <a:rPr lang="en-US" sz="35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MindMove: Ensaio Clínico em Saúde Mental Digital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8700" y="8756650"/>
            <a:ext cx="7053201" cy="908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Trabalho realizado por: Ana Sofia Moreira, Flávio Vieira, Gabriela Carneiro e Maria Leonor Fernandes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51510" y="876863"/>
            <a:ext cx="7188394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Unidade Curricular de Ferramentas da Produtividade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2621578" y="8544582"/>
            <a:ext cx="4769990" cy="1120118"/>
            <a:chOff x="0" y="0"/>
            <a:chExt cx="1256294" cy="295011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256294" cy="295011"/>
            </a:xfrm>
            <a:custGeom>
              <a:avLst/>
              <a:gdLst/>
              <a:ahLst/>
              <a:cxnLst/>
              <a:rect l="l" t="t" r="r" b="b"/>
              <a:pathLst>
                <a:path w="1256294" h="295011">
                  <a:moveTo>
                    <a:pt x="0" y="0"/>
                  </a:moveTo>
                  <a:lnTo>
                    <a:pt x="1256294" y="0"/>
                  </a:lnTo>
                  <a:lnTo>
                    <a:pt x="1256294" y="295011"/>
                  </a:lnTo>
                  <a:lnTo>
                    <a:pt x="0" y="295011"/>
                  </a:lnTo>
                  <a:close/>
                </a:path>
              </a:pathLst>
            </a:custGeom>
            <a:solidFill>
              <a:srgbClr val="FFFFFE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256294" cy="3426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4761400" y="8756650"/>
            <a:ext cx="7053201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2 de maio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163650" y="3175476"/>
            <a:ext cx="13960701" cy="6242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 transição para o ensino superior é um período de elevada vulnerabilidade, estimando-se que </a:t>
            </a:r>
            <a:r>
              <a:rPr lang="en-US" sz="24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um terço dos estudantes</a:t>
            </a: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sofra de mal-estar psicológico. Barreiras como o estigma, custos elevados e longas listas de espera dificultam o acesso ao apoio tradicional, que é muitas vezes escasso ou passivo.</a:t>
            </a:r>
          </a:p>
          <a:p>
            <a:pPr marL="0" lvl="0" indent="0" algn="just">
              <a:lnSpc>
                <a:spcPts val="3499"/>
              </a:lnSpc>
            </a:pPr>
            <a:endParaRPr lang="en-US" sz="24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0" lvl="0" indent="0" algn="just">
              <a:lnSpc>
                <a:spcPts val="4199"/>
              </a:lnSpc>
            </a:pPr>
            <a:r>
              <a:rPr lang="en-US" sz="29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MoveMind</a:t>
            </a:r>
          </a:p>
          <a:p>
            <a:pPr marL="0" lvl="0" indent="0" algn="just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 projeto MindMove propõe uma intervenção digital multimodal que combina a Terapia Cognitivo-Comportamental digital (dCBT) com a monitorização ativa do sono e da atividade física. Direcionada para estudantes com sintomas depressivos ligeiros a moderados (PHQ-9 entre 5 e 14), a aplicação funciona como uma ferramenta preventiva que visa evitar o agravamento do quadro clínico através de um suporte contínuo e personalizado. Ao comparar esta solução tecnológica com o suporte informativo estático, o estudo procura demonstrar a eficácia de uma abordagem escalável e superior ao padrão de cuidado atual nas universidades portuguesas, oferecendo uma resposta moderna e eficiente aos desafios da saúde mental no contexto académico.</a:t>
            </a:r>
          </a:p>
          <a:p>
            <a:pPr marL="0" lvl="0" indent="0" algn="ctr">
              <a:lnSpc>
                <a:spcPts val="3431"/>
              </a:lnSpc>
            </a:pPr>
            <a:endParaRPr lang="en-US" sz="24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544195" y="1297746"/>
            <a:ext cx="9199611" cy="1832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Racional</a:t>
            </a:r>
          </a:p>
          <a:p>
            <a:pPr marL="0" lvl="0" indent="0" algn="ctr">
              <a:lnSpc>
                <a:spcPts val="4600"/>
              </a:lnSpc>
            </a:pPr>
            <a:r>
              <a:rPr lang="en-US" sz="5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 lacuna no apoio académico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310905" y="4382406"/>
            <a:ext cx="5862565" cy="761094"/>
            <a:chOff x="0" y="0"/>
            <a:chExt cx="1544050" cy="20045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544050" cy="200453"/>
            </a:xfrm>
            <a:custGeom>
              <a:avLst/>
              <a:gdLst/>
              <a:ahLst/>
              <a:cxnLst/>
              <a:rect l="l" t="t" r="r" b="b"/>
              <a:pathLst>
                <a:path w="1544050" h="200453">
                  <a:moveTo>
                    <a:pt x="67349" y="0"/>
                  </a:moveTo>
                  <a:lnTo>
                    <a:pt x="1476701" y="0"/>
                  </a:lnTo>
                  <a:cubicBezTo>
                    <a:pt x="1494563" y="0"/>
                    <a:pt x="1511693" y="7096"/>
                    <a:pt x="1524324" y="19726"/>
                  </a:cubicBezTo>
                  <a:cubicBezTo>
                    <a:pt x="1536954" y="32356"/>
                    <a:pt x="1544050" y="49487"/>
                    <a:pt x="1544050" y="67349"/>
                  </a:cubicBezTo>
                  <a:lnTo>
                    <a:pt x="1544050" y="133104"/>
                  </a:lnTo>
                  <a:cubicBezTo>
                    <a:pt x="1544050" y="150966"/>
                    <a:pt x="1536954" y="168096"/>
                    <a:pt x="1524324" y="180727"/>
                  </a:cubicBezTo>
                  <a:cubicBezTo>
                    <a:pt x="1511693" y="193357"/>
                    <a:pt x="1494563" y="200453"/>
                    <a:pt x="1476701" y="200453"/>
                  </a:cubicBezTo>
                  <a:lnTo>
                    <a:pt x="67349" y="200453"/>
                  </a:lnTo>
                  <a:cubicBezTo>
                    <a:pt x="30153" y="200453"/>
                    <a:pt x="0" y="170300"/>
                    <a:pt x="0" y="133104"/>
                  </a:cubicBezTo>
                  <a:lnTo>
                    <a:pt x="0" y="67349"/>
                  </a:lnTo>
                  <a:cubicBezTo>
                    <a:pt x="0" y="49487"/>
                    <a:pt x="7096" y="32356"/>
                    <a:pt x="19726" y="19726"/>
                  </a:cubicBezTo>
                  <a:cubicBezTo>
                    <a:pt x="32356" y="7096"/>
                    <a:pt x="49487" y="0"/>
                    <a:pt x="67349" y="0"/>
                  </a:cubicBezTo>
                  <a:close/>
                </a:path>
              </a:pathLst>
            </a:custGeom>
            <a:solidFill>
              <a:srgbClr val="BFDBFF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1544050" cy="2480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2310905" y="5713576"/>
            <a:ext cx="5862565" cy="2222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Avaliar a eficácia da intervenção digital MindMove na </a:t>
            </a:r>
            <a:r>
              <a:rPr lang="en-US" sz="24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redução dos sintomas depressivos</a:t>
            </a: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medidos através do questionário PHQ-9, em estudantes universitários.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544195" y="2238498"/>
            <a:ext cx="9199611" cy="1324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Objetivos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172304" y="4424815"/>
            <a:ext cx="4139766" cy="561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Objetivo primário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0140211" y="4382406"/>
            <a:ext cx="5862565" cy="761094"/>
            <a:chOff x="0" y="0"/>
            <a:chExt cx="1544050" cy="20045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544050" cy="200453"/>
            </a:xfrm>
            <a:custGeom>
              <a:avLst/>
              <a:gdLst/>
              <a:ahLst/>
              <a:cxnLst/>
              <a:rect l="l" t="t" r="r" b="b"/>
              <a:pathLst>
                <a:path w="1544050" h="200453">
                  <a:moveTo>
                    <a:pt x="67349" y="0"/>
                  </a:moveTo>
                  <a:lnTo>
                    <a:pt x="1476701" y="0"/>
                  </a:lnTo>
                  <a:cubicBezTo>
                    <a:pt x="1494563" y="0"/>
                    <a:pt x="1511693" y="7096"/>
                    <a:pt x="1524324" y="19726"/>
                  </a:cubicBezTo>
                  <a:cubicBezTo>
                    <a:pt x="1536954" y="32356"/>
                    <a:pt x="1544050" y="49487"/>
                    <a:pt x="1544050" y="67349"/>
                  </a:cubicBezTo>
                  <a:lnTo>
                    <a:pt x="1544050" y="133104"/>
                  </a:lnTo>
                  <a:cubicBezTo>
                    <a:pt x="1544050" y="150966"/>
                    <a:pt x="1536954" y="168096"/>
                    <a:pt x="1524324" y="180727"/>
                  </a:cubicBezTo>
                  <a:cubicBezTo>
                    <a:pt x="1511693" y="193357"/>
                    <a:pt x="1494563" y="200453"/>
                    <a:pt x="1476701" y="200453"/>
                  </a:cubicBezTo>
                  <a:lnTo>
                    <a:pt x="67349" y="200453"/>
                  </a:lnTo>
                  <a:cubicBezTo>
                    <a:pt x="30153" y="200453"/>
                    <a:pt x="0" y="170300"/>
                    <a:pt x="0" y="133104"/>
                  </a:cubicBezTo>
                  <a:lnTo>
                    <a:pt x="0" y="67349"/>
                  </a:lnTo>
                  <a:cubicBezTo>
                    <a:pt x="0" y="49487"/>
                    <a:pt x="7096" y="32356"/>
                    <a:pt x="19726" y="19726"/>
                  </a:cubicBezTo>
                  <a:cubicBezTo>
                    <a:pt x="32356" y="7096"/>
                    <a:pt x="49487" y="0"/>
                    <a:pt x="67349" y="0"/>
                  </a:cubicBezTo>
                  <a:close/>
                </a:path>
              </a:pathLst>
            </a:custGeom>
            <a:solidFill>
              <a:srgbClr val="BFDBFF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544050" cy="2480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1001610" y="4424815"/>
            <a:ext cx="4139766" cy="561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Objetivos secundários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140211" y="5713576"/>
            <a:ext cx="5862565" cy="178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Avaliar o </a:t>
            </a:r>
            <a:r>
              <a:rPr lang="en-US" sz="24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impacto na ansiedade </a:t>
            </a: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(GAD-7), </a:t>
            </a:r>
            <a:r>
              <a:rPr lang="en-US" sz="24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qualidade do sono</a:t>
            </a: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(PSQI), </a:t>
            </a:r>
            <a:r>
              <a:rPr lang="en-US" sz="24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níveis de atividade física</a:t>
            </a: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, </a:t>
            </a:r>
            <a:r>
              <a:rPr lang="en-US" sz="24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adesão à intervenção</a:t>
            </a: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e </a:t>
            </a:r>
            <a:r>
              <a:rPr lang="en-US" sz="24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usabilidade da aplicação </a:t>
            </a: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(SUS).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163650" y="4401136"/>
            <a:ext cx="13960701" cy="30898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499"/>
              </a:lnSpc>
            </a:pPr>
            <a:r>
              <a:rPr lang="en-US" sz="2499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Ensaio clínico randomizado (RCT) paralelo</a:t>
            </a: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com 30 participantes e alocação 1:1. O grupo intervenção utiliza a aplicação MindMove com monitorização, alertas e conteúdo educativo.</a:t>
            </a:r>
          </a:p>
          <a:p>
            <a:pPr algn="just">
              <a:lnSpc>
                <a:spcPts val="3499"/>
              </a:lnSpc>
            </a:pPr>
            <a:endParaRPr lang="en-US" sz="24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just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 grupo controlo em lista de espera recebe brochuras informativas (standard ofcare). Período do estudo: 21 a 27 de março de 2026 (fase piloto).</a:t>
            </a:r>
          </a:p>
          <a:p>
            <a:pPr marL="0" lvl="0" indent="0" algn="just">
              <a:lnSpc>
                <a:spcPts val="3499"/>
              </a:lnSpc>
            </a:pPr>
            <a:endParaRPr lang="en-US" sz="24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marL="0" lvl="0" indent="0" algn="ctr">
              <a:lnSpc>
                <a:spcPts val="3431"/>
              </a:lnSpc>
            </a:pPr>
            <a:endParaRPr lang="en-US" sz="24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544195" y="2496308"/>
            <a:ext cx="9199611" cy="1324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Desenho de Estudo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AutoShape 14"/>
          <p:cNvSpPr/>
          <p:nvPr/>
        </p:nvSpPr>
        <p:spPr>
          <a:xfrm>
            <a:off x="2443244" y="6138640"/>
            <a:ext cx="1368110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</p:sp>
      <p:grpSp>
        <p:nvGrpSpPr>
          <p:cNvPr id="15" name="Group 15"/>
          <p:cNvGrpSpPr/>
          <p:nvPr/>
        </p:nvGrpSpPr>
        <p:grpSpPr>
          <a:xfrm>
            <a:off x="2227395" y="6015242"/>
            <a:ext cx="246796" cy="246796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2350793" y="1666679"/>
            <a:ext cx="13773557" cy="23820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Metodologia e fluxo do estudo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4673853" y="6015242"/>
            <a:ext cx="246796" cy="246796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149499" y="6015242"/>
            <a:ext cx="246796" cy="246796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625146" y="6015242"/>
            <a:ext cx="246796" cy="246796"/>
            <a:chOff x="0" y="0"/>
            <a:chExt cx="812800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100792" y="6015242"/>
            <a:ext cx="246796" cy="246796"/>
            <a:chOff x="0" y="0"/>
            <a:chExt cx="812800" cy="8128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4576438" y="6015242"/>
            <a:ext cx="246796" cy="246796"/>
            <a:chOff x="0" y="0"/>
            <a:chExt cx="812800" cy="8128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518577" y="6521586"/>
            <a:ext cx="2141633" cy="666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Stinger Fit"/>
                <a:ea typeface="Stinger Fit"/>
                <a:cs typeface="Stinger Fit"/>
                <a:sym typeface="Stinger Fit"/>
              </a:rPr>
              <a:t>Seleção de participantes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660210" y="6521586"/>
            <a:ext cx="2463316" cy="666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Stinger Fit"/>
                <a:ea typeface="Stinger Fit"/>
                <a:cs typeface="Stinger Fit"/>
                <a:sym typeface="Stinger Fit"/>
              </a:rPr>
              <a:t>Avaliação inicial (PHQ-9, GAD-7)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451752" y="6521586"/>
            <a:ext cx="1642291" cy="999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Stinger Fit"/>
                <a:ea typeface="Stinger Fit"/>
                <a:cs typeface="Stinger Fit"/>
                <a:sym typeface="Stinger Fit"/>
              </a:rPr>
              <a:t>Data definida pelos investigadores 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701425" y="6521586"/>
            <a:ext cx="2094238" cy="666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Stinger Fit"/>
                <a:ea typeface="Stinger Fit"/>
                <a:cs typeface="Stinger Fit"/>
                <a:sym typeface="Stinger Fit"/>
              </a:rPr>
              <a:t>Avaliação intermédia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177071" y="6521586"/>
            <a:ext cx="2094238" cy="332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Stinger Fit"/>
                <a:ea typeface="Stinger Fit"/>
                <a:cs typeface="Stinger Fit"/>
                <a:sym typeface="Stinger Fit"/>
              </a:rPr>
              <a:t>Avaliação final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3523013" y="6521586"/>
            <a:ext cx="2353645" cy="332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Stinger Fit"/>
                <a:ea typeface="Stinger Fit"/>
                <a:cs typeface="Stinger Fit"/>
                <a:sym typeface="Stinger Fit"/>
              </a:rPr>
              <a:t>Acompanhamento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257221" y="2126293"/>
            <a:ext cx="13773557" cy="1324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Critérios de elegibilidade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257221" y="3735005"/>
            <a:ext cx="6200371" cy="5391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250"/>
              </a:lnSpc>
            </a:pPr>
            <a:r>
              <a:rPr lang="en-US" sz="35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Critérios de Inclusão:</a:t>
            </a:r>
          </a:p>
          <a:p>
            <a:pPr algn="just">
              <a:lnSpc>
                <a:spcPts val="374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•Estudantes universitários matriculados;</a:t>
            </a:r>
          </a:p>
          <a:p>
            <a:pPr algn="just">
              <a:lnSpc>
                <a:spcPts val="374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•Idade entre 18 e 30 anos;</a:t>
            </a:r>
          </a:p>
          <a:p>
            <a:pPr algn="just">
              <a:lnSpc>
                <a:spcPts val="374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•Pontuação PHQ-9 ≥ 5 (sintomas depressivos leves a moderados);</a:t>
            </a:r>
          </a:p>
          <a:p>
            <a:pPr algn="just">
              <a:lnSpc>
                <a:spcPts val="374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•Acesso a smartphone com sistema iOS ou Android;</a:t>
            </a:r>
          </a:p>
          <a:p>
            <a:pPr algn="just">
              <a:lnSpc>
                <a:spcPts val="374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•Capacidade de fornecer consentimento informado.</a:t>
            </a:r>
          </a:p>
          <a:p>
            <a:pPr algn="just">
              <a:lnSpc>
                <a:spcPts val="3749"/>
              </a:lnSpc>
            </a:pPr>
            <a:endParaRPr lang="en-US" sz="24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ctr">
              <a:lnSpc>
                <a:spcPts val="3749"/>
              </a:lnSpc>
            </a:pPr>
            <a:endParaRPr lang="en-US" sz="24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144000" y="3735005"/>
            <a:ext cx="6886779" cy="3524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250"/>
              </a:lnSpc>
            </a:pPr>
            <a:r>
              <a:rPr lang="en-US" sz="35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Critérios de Exclusão:</a:t>
            </a:r>
          </a:p>
          <a:p>
            <a:pPr algn="just">
              <a:lnSpc>
                <a:spcPts val="374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•Tratamento psiquiátrico ativo em curso;</a:t>
            </a:r>
          </a:p>
          <a:p>
            <a:pPr algn="just">
              <a:lnSpc>
                <a:spcPts val="374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•Presença de ideação suicida (item 9 do PHQ-9 ≥ 2);</a:t>
            </a:r>
          </a:p>
          <a:p>
            <a:pPr algn="just">
              <a:lnSpc>
                <a:spcPts val="374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•Diagnóstico de perturbação psicótica ou bipolar;</a:t>
            </a:r>
          </a:p>
          <a:p>
            <a:pPr algn="just">
              <a:lnSpc>
                <a:spcPts val="374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•Participação noutro ensaio clínico de saúde mental;</a:t>
            </a:r>
          </a:p>
          <a:p>
            <a:pPr algn="just">
              <a:lnSpc>
                <a:spcPts val="374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•Incapacidade de compreender português escrito.</a:t>
            </a:r>
          </a:p>
          <a:p>
            <a:pPr algn="ctr">
              <a:lnSpc>
                <a:spcPts val="3749"/>
              </a:lnSpc>
            </a:pPr>
            <a:endParaRPr lang="en-US" sz="24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5" name="Group 5"/>
          <p:cNvGrpSpPr/>
          <p:nvPr/>
        </p:nvGrpSpPr>
        <p:grpSpPr>
          <a:xfrm>
            <a:off x="11246542" y="-6136759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1273638" y="693030"/>
            <a:ext cx="15740723" cy="8900940"/>
            <a:chOff x="0" y="0"/>
            <a:chExt cx="4145705" cy="2344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145705" cy="2344280"/>
            </a:xfrm>
            <a:custGeom>
              <a:avLst/>
              <a:gdLst/>
              <a:ahLst/>
              <a:cxnLst/>
              <a:rect l="l" t="t" r="r" b="b"/>
              <a:pathLst>
                <a:path w="4145705" h="2344280">
                  <a:moveTo>
                    <a:pt x="49184" y="0"/>
                  </a:moveTo>
                  <a:lnTo>
                    <a:pt x="4096521" y="0"/>
                  </a:lnTo>
                  <a:cubicBezTo>
                    <a:pt x="4109565" y="0"/>
                    <a:pt x="4122076" y="5182"/>
                    <a:pt x="4131299" y="14406"/>
                  </a:cubicBezTo>
                  <a:cubicBezTo>
                    <a:pt x="4140523" y="23629"/>
                    <a:pt x="4145705" y="36140"/>
                    <a:pt x="4145705" y="49184"/>
                  </a:cubicBezTo>
                  <a:lnTo>
                    <a:pt x="4145705" y="2295096"/>
                  </a:lnTo>
                  <a:cubicBezTo>
                    <a:pt x="4145705" y="2308141"/>
                    <a:pt x="4140523" y="2320651"/>
                    <a:pt x="4131299" y="2329875"/>
                  </a:cubicBezTo>
                  <a:cubicBezTo>
                    <a:pt x="4122076" y="2339099"/>
                    <a:pt x="4109565" y="2344280"/>
                    <a:pt x="4096521" y="2344280"/>
                  </a:cubicBezTo>
                  <a:lnTo>
                    <a:pt x="49184" y="2344280"/>
                  </a:lnTo>
                  <a:cubicBezTo>
                    <a:pt x="22020" y="2344280"/>
                    <a:pt x="0" y="2322260"/>
                    <a:pt x="0" y="2295096"/>
                  </a:cubicBezTo>
                  <a:lnTo>
                    <a:pt x="0" y="49184"/>
                  </a:lnTo>
                  <a:cubicBezTo>
                    <a:pt x="0" y="36140"/>
                    <a:pt x="5182" y="23629"/>
                    <a:pt x="14406" y="14406"/>
                  </a:cubicBezTo>
                  <a:cubicBezTo>
                    <a:pt x="23629" y="5182"/>
                    <a:pt x="36140" y="0"/>
                    <a:pt x="49184" y="0"/>
                  </a:cubicBezTo>
                  <a:close/>
                </a:path>
              </a:pathLst>
            </a:custGeom>
            <a:solidFill>
              <a:srgbClr val="BFDBFF"/>
            </a:solidFill>
            <a:ln cap="rnd">
              <a:noFill/>
              <a:prstDash val="solid"/>
              <a:round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4145705" cy="23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518577" y="1028700"/>
            <a:ext cx="15250847" cy="8229600"/>
            <a:chOff x="0" y="0"/>
            <a:chExt cx="4016684" cy="2167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016684" cy="2167467"/>
            </a:xfrm>
            <a:custGeom>
              <a:avLst/>
              <a:gdLst/>
              <a:ahLst/>
              <a:cxnLst/>
              <a:rect l="l" t="t" r="r" b="b"/>
              <a:pathLst>
                <a:path w="4016684" h="2167467">
                  <a:moveTo>
                    <a:pt x="50764" y="0"/>
                  </a:moveTo>
                  <a:lnTo>
                    <a:pt x="3965920" y="0"/>
                  </a:lnTo>
                  <a:cubicBezTo>
                    <a:pt x="3993956" y="0"/>
                    <a:pt x="4016684" y="22728"/>
                    <a:pt x="4016684" y="50764"/>
                  </a:cubicBezTo>
                  <a:lnTo>
                    <a:pt x="4016684" y="2116703"/>
                  </a:lnTo>
                  <a:cubicBezTo>
                    <a:pt x="4016684" y="2144739"/>
                    <a:pt x="3993956" y="2167467"/>
                    <a:pt x="3965920" y="2167467"/>
                  </a:cubicBezTo>
                  <a:lnTo>
                    <a:pt x="50764" y="2167467"/>
                  </a:lnTo>
                  <a:cubicBezTo>
                    <a:pt x="37300" y="2167467"/>
                    <a:pt x="24388" y="2162118"/>
                    <a:pt x="14868" y="2152598"/>
                  </a:cubicBezTo>
                  <a:cubicBezTo>
                    <a:pt x="5348" y="2143078"/>
                    <a:pt x="0" y="2130166"/>
                    <a:pt x="0" y="2116703"/>
                  </a:cubicBezTo>
                  <a:lnTo>
                    <a:pt x="0" y="50764"/>
                  </a:lnTo>
                  <a:cubicBezTo>
                    <a:pt x="0" y="22728"/>
                    <a:pt x="22728" y="0"/>
                    <a:pt x="50764" y="0"/>
                  </a:cubicBezTo>
                  <a:close/>
                </a:path>
              </a:pathLst>
            </a:custGeom>
            <a:solidFill>
              <a:srgbClr val="FFFFFE"/>
            </a:solidFill>
            <a:ln cap="rnd">
              <a:noFill/>
              <a:prstDash val="solid"/>
              <a:round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4016684" cy="22150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257221" y="2126293"/>
            <a:ext cx="13773557" cy="1324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398"/>
              </a:lnSpc>
            </a:pPr>
            <a:r>
              <a:rPr lang="en-US" sz="912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Metodologia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257221" y="3702838"/>
            <a:ext cx="13773557" cy="3724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250"/>
              </a:lnSpc>
            </a:pPr>
            <a:r>
              <a:rPr lang="en-US" sz="35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Grupo Intervenção:</a:t>
            </a:r>
          </a:p>
          <a:p>
            <a:pPr algn="just">
              <a:lnSpc>
                <a:spcPts val="374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App MindMove com funcionalidades integradas: monitorização contínua de sintomas, alertas personalizados baseados em dados, conteúdo educativo sobre saúde mental e exercícios de bem-estar.</a:t>
            </a:r>
          </a:p>
          <a:p>
            <a:pPr algn="just">
              <a:lnSpc>
                <a:spcPts val="3749"/>
              </a:lnSpc>
            </a:pPr>
            <a:endParaRPr lang="en-US" sz="2499">
              <a:solidFill>
                <a:srgbClr val="000000"/>
              </a:solidFill>
              <a:latin typeface="Calibri (MS)"/>
              <a:ea typeface="Calibri (MS)"/>
              <a:cs typeface="Calibri (MS)"/>
              <a:sym typeface="Calibri (MS)"/>
            </a:endParaRPr>
          </a:p>
          <a:p>
            <a:pPr algn="just">
              <a:lnSpc>
                <a:spcPts val="5250"/>
              </a:lnSpc>
            </a:pPr>
            <a:r>
              <a:rPr lang="en-US" sz="3500" b="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Grupo Controlo:</a:t>
            </a:r>
          </a:p>
          <a:p>
            <a:pPr algn="just">
              <a:lnSpc>
                <a:spcPts val="374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Brochuras informativas sobre saúde mental (standard ofcare): material educativo convencional sem componente digital ou interativo, servindo como comparador ativo.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114938" y="-6754570"/>
            <a:ext cx="8279532" cy="9266871"/>
            <a:chOff x="0" y="0"/>
            <a:chExt cx="11039376" cy="12355828"/>
          </a:xfrm>
        </p:grpSpPr>
        <p:sp>
          <p:nvSpPr>
            <p:cNvPr id="3" name="Freeform 3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 rot="-10800000">
            <a:off x="-1434465" y="7936076"/>
            <a:ext cx="8279532" cy="9266871"/>
            <a:chOff x="0" y="0"/>
            <a:chExt cx="11039376" cy="12355828"/>
          </a:xfrm>
        </p:grpSpPr>
        <p:sp>
          <p:nvSpPr>
            <p:cNvPr id="6" name="Freeform 6"/>
            <p:cNvSpPr/>
            <p:nvPr/>
          </p:nvSpPr>
          <p:spPr>
            <a:xfrm flipH="1" flipV="1">
              <a:off x="1782890" y="1336201"/>
              <a:ext cx="9256486" cy="11019627"/>
            </a:xfrm>
            <a:custGeom>
              <a:avLst/>
              <a:gdLst/>
              <a:ahLst/>
              <a:cxnLst/>
              <a:rect l="l" t="t" r="r" b="b"/>
              <a:pathLst>
                <a:path w="9256486" h="11019627">
                  <a:moveTo>
                    <a:pt x="9256486" y="11019627"/>
                  </a:moveTo>
                  <a:lnTo>
                    <a:pt x="0" y="11019627"/>
                  </a:lnTo>
                  <a:lnTo>
                    <a:pt x="0" y="0"/>
                  </a:lnTo>
                  <a:lnTo>
                    <a:pt x="9256486" y="0"/>
                  </a:lnTo>
                  <a:lnTo>
                    <a:pt x="9256486" y="11019627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0" y="0"/>
              <a:ext cx="10377694" cy="10377694"/>
            </a:xfrm>
            <a:custGeom>
              <a:avLst/>
              <a:gdLst/>
              <a:ahLst/>
              <a:cxnLst/>
              <a:rect l="l" t="t" r="r" b="b"/>
              <a:pathLst>
                <a:path w="10377694" h="10377694">
                  <a:moveTo>
                    <a:pt x="0" y="0"/>
                  </a:moveTo>
                  <a:lnTo>
                    <a:pt x="10377694" y="0"/>
                  </a:lnTo>
                  <a:lnTo>
                    <a:pt x="10377694" y="10377694"/>
                  </a:lnTo>
                  <a:lnTo>
                    <a:pt x="0" y="103776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Freeform 8"/>
          <p:cNvSpPr/>
          <p:nvPr/>
        </p:nvSpPr>
        <p:spPr>
          <a:xfrm rot="-10800000">
            <a:off x="15965137" y="8412436"/>
            <a:ext cx="4645726" cy="4645726"/>
          </a:xfrm>
          <a:custGeom>
            <a:avLst/>
            <a:gdLst/>
            <a:ahLst/>
            <a:cxnLst/>
            <a:rect l="l" t="t" r="r" b="b"/>
            <a:pathLst>
              <a:path w="4645726" h="4645726">
                <a:moveTo>
                  <a:pt x="0" y="0"/>
                </a:moveTo>
                <a:lnTo>
                  <a:pt x="4645726" y="0"/>
                </a:lnTo>
                <a:lnTo>
                  <a:pt x="4645726" y="4645726"/>
                </a:lnTo>
                <a:lnTo>
                  <a:pt x="0" y="4645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10800000">
            <a:off x="-2281014" y="-2716014"/>
            <a:ext cx="4645726" cy="4645726"/>
          </a:xfrm>
          <a:custGeom>
            <a:avLst/>
            <a:gdLst/>
            <a:ahLst/>
            <a:cxnLst/>
            <a:rect l="l" t="t" r="r" b="b"/>
            <a:pathLst>
              <a:path w="4645726" h="4645726">
                <a:moveTo>
                  <a:pt x="0" y="0"/>
                </a:moveTo>
                <a:lnTo>
                  <a:pt x="4645726" y="0"/>
                </a:lnTo>
                <a:lnTo>
                  <a:pt x="4645726" y="4645726"/>
                </a:lnTo>
                <a:lnTo>
                  <a:pt x="0" y="4645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4263643" y="5887740"/>
            <a:ext cx="9760714" cy="8137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600"/>
              </a:lnSpc>
            </a:pPr>
            <a:r>
              <a:rPr lang="en-US" sz="4714">
                <a:solidFill>
                  <a:srgbClr val="1E344C"/>
                </a:solidFill>
                <a:latin typeface="Stinger Fit"/>
                <a:ea typeface="Stinger Fit"/>
                <a:cs typeface="Stinger Fit"/>
                <a:sym typeface="Stinger Fit"/>
              </a:rPr>
              <a:t>Equipa de Investigação MinMove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364712" y="3223376"/>
            <a:ext cx="13558576" cy="14407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972"/>
              </a:lnSpc>
            </a:pPr>
            <a:r>
              <a:rPr lang="en-US" sz="10160">
                <a:solidFill>
                  <a:srgbClr val="1E344C"/>
                </a:solidFill>
                <a:latin typeface="Stinger Fit"/>
                <a:ea typeface="Stinger Fit"/>
                <a:cs typeface="Stinger Fit"/>
                <a:sym typeface="Stinger Fit"/>
              </a:rPr>
              <a:t>Obrigado pela Atenção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521</Words>
  <Application>Microsoft Office PowerPoint</Application>
  <PresentationFormat>Personalizados</PresentationFormat>
  <Paragraphs>48</Paragraphs>
  <Slides>8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8</vt:i4>
      </vt:variant>
    </vt:vector>
  </HeadingPairs>
  <TitlesOfParts>
    <vt:vector size="14" baseType="lpstr">
      <vt:lpstr>Calibri (MS)</vt:lpstr>
      <vt:lpstr>Arial</vt:lpstr>
      <vt:lpstr>Calibri (MS) Bold</vt:lpstr>
      <vt:lpstr>Stinger Fit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MindMove</dc:title>
  <cp:lastModifiedBy>Gabriela Carneiro</cp:lastModifiedBy>
  <cp:revision>1</cp:revision>
  <dcterms:created xsi:type="dcterms:W3CDTF">2006-08-16T00:00:00Z</dcterms:created>
  <dcterms:modified xsi:type="dcterms:W3CDTF">2026-04-29T20:28:21Z</dcterms:modified>
  <dc:identifier>DAHIQMFlzDU</dc:identifier>
</cp:coreProperties>
</file>